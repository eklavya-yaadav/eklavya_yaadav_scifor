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4" r:id="rId1"/>
  </p:sldMasterIdLst>
  <p:notesMasterIdLst>
    <p:notesMasterId r:id="rId18"/>
  </p:notesMasterIdLst>
  <p:sldIdLst>
    <p:sldId id="256" r:id="rId2"/>
    <p:sldId id="257" r:id="rId3"/>
    <p:sldId id="258" r:id="rId4"/>
    <p:sldId id="270" r:id="rId5"/>
    <p:sldId id="265" r:id="rId6"/>
    <p:sldId id="259" r:id="rId7"/>
    <p:sldId id="260" r:id="rId8"/>
    <p:sldId id="261" r:id="rId9"/>
    <p:sldId id="264" r:id="rId10"/>
    <p:sldId id="262" r:id="rId11"/>
    <p:sldId id="263" r:id="rId12"/>
    <p:sldId id="266" r:id="rId13"/>
    <p:sldId id="271" r:id="rId14"/>
    <p:sldId id="267" r:id="rId15"/>
    <p:sldId id="268"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CE5C2-ECEA-4213-9336-6E65BA5A3FBE}" type="datetimeFigureOut">
              <a:rPr lang="en-IN" smtClean="0"/>
              <a:t>03-09-2024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0694F5-E35C-48B4-A2F0-9A38389548D6}" type="slidenum">
              <a:rPr lang="en-IN" smtClean="0"/>
              <a:t>‹#›</a:t>
            </a:fld>
            <a:endParaRPr lang="en-IN"/>
          </a:p>
        </p:txBody>
      </p:sp>
    </p:spTree>
    <p:extLst>
      <p:ext uri="{BB962C8B-B14F-4D97-AF65-F5344CB8AC3E}">
        <p14:creationId xmlns:p14="http://schemas.microsoft.com/office/powerpoint/2010/main" val="347654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0694F5-E35C-48B4-A2F0-9A38389548D6}" type="slidenum">
              <a:rPr lang="en-IN" smtClean="0"/>
              <a:t>9</a:t>
            </a:fld>
            <a:endParaRPr lang="en-IN"/>
          </a:p>
        </p:txBody>
      </p:sp>
    </p:spTree>
    <p:extLst>
      <p:ext uri="{BB962C8B-B14F-4D97-AF65-F5344CB8AC3E}">
        <p14:creationId xmlns:p14="http://schemas.microsoft.com/office/powerpoint/2010/main" val="2839089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99F8950D-89A3-4CA5-B41E-5DCF7506D9C3}" type="datetimeFigureOut">
              <a:rPr lang="en-IN" smtClean="0"/>
              <a:t>03-09-2024</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30477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F8950D-89A3-4CA5-B41E-5DCF7506D9C3}"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4201041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F8950D-89A3-4CA5-B41E-5DCF7506D9C3}"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207778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F8950D-89A3-4CA5-B41E-5DCF7506D9C3}"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2067024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F8950D-89A3-4CA5-B41E-5DCF7506D9C3}" type="datetimeFigureOut">
              <a:rPr lang="en-IN" smtClean="0"/>
              <a:t>03-09-2024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3145656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F8950D-89A3-4CA5-B41E-5DCF7506D9C3}" type="datetimeFigureOut">
              <a:rPr lang="en-IN" smtClean="0"/>
              <a:t>03-09-2024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1877026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F8950D-89A3-4CA5-B41E-5DCF7506D9C3}" type="datetimeFigureOut">
              <a:rPr lang="en-IN" smtClean="0"/>
              <a:t>03-09-2024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2391893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F8950D-89A3-4CA5-B41E-5DCF7506D9C3}"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474200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F8950D-89A3-4CA5-B41E-5DCF7506D9C3}"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696090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F8950D-89A3-4CA5-B41E-5DCF7506D9C3}"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3763464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F8950D-89A3-4CA5-B41E-5DCF7506D9C3}"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11490056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F8950D-89A3-4CA5-B41E-5DCF7506D9C3}"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CC562-9F97-446C-8229-50C397128FC8}"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13882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F8950D-89A3-4CA5-B41E-5DCF7506D9C3}"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4182305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9F8950D-89A3-4CA5-B41E-5DCF7506D9C3}" type="datetimeFigureOut">
              <a:rPr lang="en-IN" smtClean="0"/>
              <a:t>03-09-2024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1216229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9F8950D-89A3-4CA5-B41E-5DCF7506D9C3}" type="datetimeFigureOut">
              <a:rPr lang="en-IN" smtClean="0"/>
              <a:t>03-09-2024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3680038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F8950D-89A3-4CA5-B41E-5DCF7506D9C3}"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3646137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F8950D-89A3-4CA5-B41E-5DCF7506D9C3}"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49CC562-9F97-446C-8229-50C397128FC8}" type="slidenum">
              <a:rPr lang="en-IN" smtClean="0"/>
              <a:t>‹#›</a:t>
            </a:fld>
            <a:endParaRPr lang="en-IN"/>
          </a:p>
        </p:txBody>
      </p:sp>
    </p:spTree>
    <p:extLst>
      <p:ext uri="{BB962C8B-B14F-4D97-AF65-F5344CB8AC3E}">
        <p14:creationId xmlns:p14="http://schemas.microsoft.com/office/powerpoint/2010/main" val="356940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9F8950D-89A3-4CA5-B41E-5DCF7506D9C3}" type="datetimeFigureOut">
              <a:rPr lang="en-IN" smtClean="0"/>
              <a:t>03-09-2024</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49CC562-9F97-446C-8229-50C397128FC8}" type="slidenum">
              <a:rPr lang="en-IN" smtClean="0"/>
              <a:t>‹#›</a:t>
            </a:fld>
            <a:endParaRPr lang="en-IN"/>
          </a:p>
        </p:txBody>
      </p:sp>
    </p:spTree>
    <p:extLst>
      <p:ext uri="{BB962C8B-B14F-4D97-AF65-F5344CB8AC3E}">
        <p14:creationId xmlns:p14="http://schemas.microsoft.com/office/powerpoint/2010/main" val="1990151055"/>
      </p:ext>
    </p:extLst>
  </p:cSld>
  <p:clrMap bg1="dk1" tx1="lt1" bg2="dk2" tx2="lt2" accent1="accent1" accent2="accent2" accent3="accent3" accent4="accent4" accent5="accent5" accent6="accent6" hlink="hlink" folHlink="folHlink"/>
  <p:sldLayoutIdLst>
    <p:sldLayoutId id="2147484015" r:id="rId1"/>
    <p:sldLayoutId id="2147484016" r:id="rId2"/>
    <p:sldLayoutId id="2147484017" r:id="rId3"/>
    <p:sldLayoutId id="2147484018" r:id="rId4"/>
    <p:sldLayoutId id="2147484019" r:id="rId5"/>
    <p:sldLayoutId id="2147484020" r:id="rId6"/>
    <p:sldLayoutId id="2147484021" r:id="rId7"/>
    <p:sldLayoutId id="2147484022" r:id="rId8"/>
    <p:sldLayoutId id="2147484023" r:id="rId9"/>
    <p:sldLayoutId id="2147484024" r:id="rId10"/>
    <p:sldLayoutId id="2147484025" r:id="rId11"/>
    <p:sldLayoutId id="2147484026" r:id="rId12"/>
    <p:sldLayoutId id="2147484027" r:id="rId13"/>
    <p:sldLayoutId id="2147484028" r:id="rId14"/>
    <p:sldLayoutId id="2147484029" r:id="rId15"/>
    <p:sldLayoutId id="2147484030" r:id="rId16"/>
    <p:sldLayoutId id="2147484031"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2E8A312-56A8-A831-7167-FD16F03E2B6E}"/>
              </a:ext>
            </a:extLst>
          </p:cNvPr>
          <p:cNvSpPr txBox="1"/>
          <p:nvPr/>
        </p:nvSpPr>
        <p:spPr>
          <a:xfrm>
            <a:off x="1986755" y="1601788"/>
            <a:ext cx="8398843" cy="1446550"/>
          </a:xfrm>
          <a:prstGeom prst="rect">
            <a:avLst/>
          </a:prstGeom>
          <a:noFill/>
        </p:spPr>
        <p:txBody>
          <a:bodyPr wrap="square" rtlCol="0">
            <a:spAutoFit/>
          </a:bodyPr>
          <a:lstStyle/>
          <a:p>
            <a:r>
              <a:rPr lang="en-IN" sz="4400" b="1" dirty="0"/>
              <a:t>LOAN APPLICATION STATUS PREDICTION</a:t>
            </a:r>
          </a:p>
        </p:txBody>
      </p:sp>
      <p:sp>
        <p:nvSpPr>
          <p:cNvPr id="7" name="TextBox 6">
            <a:extLst>
              <a:ext uri="{FF2B5EF4-FFF2-40B4-BE49-F238E27FC236}">
                <a16:creationId xmlns:a16="http://schemas.microsoft.com/office/drawing/2014/main" id="{2C595EE6-6D0E-C81B-CA4D-146CC66821DD}"/>
              </a:ext>
            </a:extLst>
          </p:cNvPr>
          <p:cNvSpPr txBox="1"/>
          <p:nvPr/>
        </p:nvSpPr>
        <p:spPr>
          <a:xfrm>
            <a:off x="2456121" y="127090"/>
            <a:ext cx="4760537" cy="646331"/>
          </a:xfrm>
          <a:prstGeom prst="rect">
            <a:avLst/>
          </a:prstGeom>
          <a:noFill/>
        </p:spPr>
        <p:txBody>
          <a:bodyPr wrap="square" rtlCol="0">
            <a:spAutoFit/>
          </a:bodyPr>
          <a:lstStyle/>
          <a:p>
            <a:r>
              <a:rPr lang="en-IN" sz="3600" dirty="0"/>
              <a:t>Mini Project </a:t>
            </a:r>
          </a:p>
        </p:txBody>
      </p:sp>
      <p:sp>
        <p:nvSpPr>
          <p:cNvPr id="8" name="TextBox 7">
            <a:extLst>
              <a:ext uri="{FF2B5EF4-FFF2-40B4-BE49-F238E27FC236}">
                <a16:creationId xmlns:a16="http://schemas.microsoft.com/office/drawing/2014/main" id="{27EBD04F-B853-7E65-1275-D9CE7412D9D6}"/>
              </a:ext>
            </a:extLst>
          </p:cNvPr>
          <p:cNvSpPr txBox="1"/>
          <p:nvPr/>
        </p:nvSpPr>
        <p:spPr>
          <a:xfrm>
            <a:off x="5015719" y="4090640"/>
            <a:ext cx="9464512" cy="1384995"/>
          </a:xfrm>
          <a:prstGeom prst="rect">
            <a:avLst/>
          </a:prstGeom>
          <a:noFill/>
        </p:spPr>
        <p:txBody>
          <a:bodyPr wrap="square" rtlCol="0">
            <a:spAutoFit/>
          </a:bodyPr>
          <a:lstStyle/>
          <a:p>
            <a:r>
              <a:rPr lang="en-IN" sz="2800" dirty="0"/>
              <a:t>Created By:-</a:t>
            </a:r>
          </a:p>
          <a:p>
            <a:r>
              <a:rPr lang="en-IN" sz="2800" dirty="0"/>
              <a:t>                           Eklavya Yaadav</a:t>
            </a:r>
          </a:p>
          <a:p>
            <a:r>
              <a:rPr lang="en-IN" sz="2800" dirty="0"/>
              <a:t>                           AI/ML Intern </a:t>
            </a:r>
          </a:p>
        </p:txBody>
      </p:sp>
    </p:spTree>
    <p:extLst>
      <p:ext uri="{BB962C8B-B14F-4D97-AF65-F5344CB8AC3E}">
        <p14:creationId xmlns:p14="http://schemas.microsoft.com/office/powerpoint/2010/main" val="6589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2DBC50-1DC4-4336-6664-E8D5BD4472AA}"/>
              </a:ext>
            </a:extLst>
          </p:cNvPr>
          <p:cNvSpPr txBox="1"/>
          <p:nvPr/>
        </p:nvSpPr>
        <p:spPr>
          <a:xfrm>
            <a:off x="3932587" y="358219"/>
            <a:ext cx="4326826" cy="769441"/>
          </a:xfrm>
          <a:prstGeom prst="rect">
            <a:avLst/>
          </a:prstGeom>
          <a:noFill/>
        </p:spPr>
        <p:txBody>
          <a:bodyPr wrap="none" rtlCol="0">
            <a:spAutoFit/>
          </a:bodyPr>
          <a:lstStyle/>
          <a:p>
            <a:pPr algn="ctr"/>
            <a:r>
              <a:rPr lang="en-IN" sz="4400" b="1" dirty="0"/>
              <a:t>INTRODUCTION</a:t>
            </a:r>
          </a:p>
        </p:txBody>
      </p:sp>
      <p:sp>
        <p:nvSpPr>
          <p:cNvPr id="9" name="TextBox 8">
            <a:extLst>
              <a:ext uri="{FF2B5EF4-FFF2-40B4-BE49-F238E27FC236}">
                <a16:creationId xmlns:a16="http://schemas.microsoft.com/office/drawing/2014/main" id="{FFA62844-0413-1DBF-97B1-46C1D0179466}"/>
              </a:ext>
            </a:extLst>
          </p:cNvPr>
          <p:cNvSpPr txBox="1"/>
          <p:nvPr/>
        </p:nvSpPr>
        <p:spPr>
          <a:xfrm>
            <a:off x="802703" y="1748825"/>
            <a:ext cx="11189616" cy="4401205"/>
          </a:xfrm>
          <a:prstGeom prst="rect">
            <a:avLst/>
          </a:prstGeom>
          <a:noFill/>
        </p:spPr>
        <p:txBody>
          <a:bodyPr wrap="square">
            <a:spAutoFit/>
          </a:bodyPr>
          <a:lstStyle/>
          <a:p>
            <a:r>
              <a:rPr lang="en-US" sz="3200" dirty="0"/>
              <a:t>Loan approval is a critical decision-making process for financial institutions. Approving loans to applicants with a high probability of default can lead to significant financial losses. On the other hand, rejecting applicants who are likely to repay can lead to lost business opportunities. Therefore, the ability to predict loan approval outcomes based on an applicant's profile can help optimize lending processes, reduce financial risk, and improve customer satisfaction by speeding up the decision-making process.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9479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205A3-2A39-68BF-E4DF-A298C7D9E82F}"/>
              </a:ext>
            </a:extLst>
          </p:cNvPr>
          <p:cNvSpPr>
            <a:spLocks noGrp="1"/>
          </p:cNvSpPr>
          <p:nvPr>
            <p:ph type="title"/>
          </p:nvPr>
        </p:nvSpPr>
        <p:spPr>
          <a:xfrm>
            <a:off x="1828800" y="254697"/>
            <a:ext cx="8534400" cy="1507067"/>
          </a:xfrm>
        </p:spPr>
        <p:txBody>
          <a:bodyPr>
            <a:normAutofit/>
          </a:bodyPr>
          <a:lstStyle/>
          <a:p>
            <a:pPr algn="ctr"/>
            <a:r>
              <a:rPr lang="en-IN" sz="4400" b="1" dirty="0"/>
              <a:t>OBJECTIVE</a:t>
            </a:r>
          </a:p>
        </p:txBody>
      </p:sp>
      <p:sp>
        <p:nvSpPr>
          <p:cNvPr id="4" name="Rectangle 1">
            <a:extLst>
              <a:ext uri="{FF2B5EF4-FFF2-40B4-BE49-F238E27FC236}">
                <a16:creationId xmlns:a16="http://schemas.microsoft.com/office/drawing/2014/main" id="{E82C2AF3-551B-6A41-3D09-3A65893AAB01}"/>
              </a:ext>
            </a:extLst>
          </p:cNvPr>
          <p:cNvSpPr>
            <a:spLocks noChangeArrowheads="1"/>
          </p:cNvSpPr>
          <p:nvPr/>
        </p:nvSpPr>
        <p:spPr bwMode="auto">
          <a:xfrm>
            <a:off x="933255" y="2315762"/>
            <a:ext cx="100583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sz="2400" b="0" i="0" dirty="0">
                <a:solidFill>
                  <a:srgbClr val="000000"/>
                </a:solidFill>
                <a:effectLst/>
                <a:highlight>
                  <a:srgbClr val="FFFFFF"/>
                </a:highlight>
                <a:latin typeface="Helvetica Neue"/>
              </a:rPr>
              <a:t>The goal of this project is to develop a predictive model that can accurately determine whether a loan application will be approved based on the applicant's profile. This prediction model can be invaluable for financial institutions, helping them to assess the risk associated with lending to different applicants more efficiently.</a:t>
            </a:r>
          </a:p>
          <a:p>
            <a:pPr lvl="0" defTabSz="914400" eaLnBrk="0" fontAlgn="base" hangingPunct="0">
              <a:spcBef>
                <a:spcPct val="0"/>
              </a:spcBef>
              <a:spcAft>
                <a:spcPct val="0"/>
              </a:spcAft>
              <a:buFontTx/>
              <a:buChar char="•"/>
            </a:pPr>
            <a:endParaRPr lang="en-US" altLang="en-US" sz="2400" b="1" dirty="0">
              <a:latin typeface="Arial" panose="020B0604020202020204" pitchFamily="34" charset="0"/>
            </a:endParaRPr>
          </a:p>
          <a:p>
            <a:pPr lvl="0" defTabSz="914400" eaLnBrk="0" fontAlgn="base" hangingPunct="0">
              <a:spcBef>
                <a:spcPct val="0"/>
              </a:spcBef>
              <a:spcAft>
                <a:spcPct val="0"/>
              </a:spcAft>
              <a:buFontTx/>
              <a:buChar char="•"/>
            </a:pPr>
            <a:endParaRPr lang="en-US" altLang="en-US" sz="2400" b="1" dirty="0">
              <a:latin typeface="Arial" panose="020B0604020202020204" pitchFamily="34" charset="0"/>
            </a:endParaRPr>
          </a:p>
        </p:txBody>
      </p:sp>
    </p:spTree>
    <p:extLst>
      <p:ext uri="{BB962C8B-B14F-4D97-AF65-F5344CB8AC3E}">
        <p14:creationId xmlns:p14="http://schemas.microsoft.com/office/powerpoint/2010/main" val="1155789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FB4DF-F99D-C31F-A707-90E5C15EBC89}"/>
              </a:ext>
            </a:extLst>
          </p:cNvPr>
          <p:cNvSpPr>
            <a:spLocks noGrp="1"/>
          </p:cNvSpPr>
          <p:nvPr>
            <p:ph type="title"/>
          </p:nvPr>
        </p:nvSpPr>
        <p:spPr/>
        <p:txBody>
          <a:bodyPr/>
          <a:lstStyle/>
          <a:p>
            <a:r>
              <a:rPr lang="en-US" dirty="0"/>
              <a:t>                           Methodology</a:t>
            </a:r>
            <a:endParaRPr lang="en-IN" dirty="0"/>
          </a:p>
        </p:txBody>
      </p:sp>
      <p:sp>
        <p:nvSpPr>
          <p:cNvPr id="3" name="Content Placeholder 2">
            <a:extLst>
              <a:ext uri="{FF2B5EF4-FFF2-40B4-BE49-F238E27FC236}">
                <a16:creationId xmlns:a16="http://schemas.microsoft.com/office/drawing/2014/main" id="{23513F33-6469-748C-2D8D-FD48F4776663}"/>
              </a:ext>
            </a:extLst>
          </p:cNvPr>
          <p:cNvSpPr>
            <a:spLocks noGrp="1"/>
          </p:cNvSpPr>
          <p:nvPr>
            <p:ph idx="1"/>
          </p:nvPr>
        </p:nvSpPr>
        <p:spPr/>
        <p:txBody>
          <a:bodyPr/>
          <a:lstStyle/>
          <a:p>
            <a:r>
              <a:rPr lang="en-US" sz="2600" b="1" dirty="0"/>
              <a:t>Approach</a:t>
            </a:r>
            <a:r>
              <a:rPr lang="en-US" b="1" dirty="0"/>
              <a:t> - </a:t>
            </a:r>
            <a:r>
              <a:rPr lang="en-US" sz="2400" dirty="0">
                <a:solidFill>
                  <a:srgbClr val="404155"/>
                </a:solidFill>
                <a:latin typeface="Nobile" pitchFamily="34" charset="0"/>
                <a:ea typeface="Nobile" pitchFamily="34" charset="-122"/>
                <a:cs typeface="Nobile" pitchFamily="34" charset="-120"/>
              </a:rPr>
              <a:t>We utilize machine learning models to analyze the dataset and build predictive models. The focus is on understanding how different factors influence the likelihood of loan approval</a:t>
            </a:r>
          </a:p>
          <a:p>
            <a:r>
              <a:rPr lang="en-US" b="1" dirty="0">
                <a:solidFill>
                  <a:schemeClr val="tx1">
                    <a:lumMod val="95000"/>
                  </a:schemeClr>
                </a:solidFill>
                <a:latin typeface="Nobile" pitchFamily="34" charset="0"/>
              </a:rPr>
              <a:t>Models Used </a:t>
            </a:r>
            <a:r>
              <a:rPr lang="en-US" b="1" dirty="0">
                <a:solidFill>
                  <a:srgbClr val="404155"/>
                </a:solidFill>
                <a:latin typeface="Nobile" pitchFamily="34" charset="0"/>
              </a:rPr>
              <a:t>- </a:t>
            </a:r>
            <a:r>
              <a:rPr lang="en-US" sz="2400" dirty="0">
                <a:solidFill>
                  <a:srgbClr val="404155"/>
                </a:solidFill>
                <a:latin typeface="Nobile" pitchFamily="34" charset="0"/>
                <a:ea typeface="Nobile" pitchFamily="34" charset="-122"/>
                <a:cs typeface="Nobile" pitchFamily="34" charset="-120"/>
              </a:rPr>
              <a:t>We applied Logistic Regression, Random Forest, K - Neighbors Classifier, and Decision Tree Classifiers to make predictions.</a:t>
            </a:r>
            <a:endParaRPr lang="en-IN" b="1" dirty="0"/>
          </a:p>
        </p:txBody>
      </p:sp>
    </p:spTree>
    <p:extLst>
      <p:ext uri="{BB962C8B-B14F-4D97-AF65-F5344CB8AC3E}">
        <p14:creationId xmlns:p14="http://schemas.microsoft.com/office/powerpoint/2010/main" val="305137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2174D-8E1A-1DF5-D51C-D0EBAABDDAC1}"/>
              </a:ext>
            </a:extLst>
          </p:cNvPr>
          <p:cNvSpPr>
            <a:spLocks noGrp="1"/>
          </p:cNvSpPr>
          <p:nvPr>
            <p:ph type="title"/>
          </p:nvPr>
        </p:nvSpPr>
        <p:spPr>
          <a:xfrm>
            <a:off x="1828800" y="0"/>
            <a:ext cx="8534400" cy="1507067"/>
          </a:xfrm>
        </p:spPr>
        <p:txBody>
          <a:bodyPr>
            <a:normAutofit/>
          </a:bodyPr>
          <a:lstStyle/>
          <a:p>
            <a:pPr algn="ctr"/>
            <a:r>
              <a:rPr lang="en-IN" sz="4400" b="1" dirty="0"/>
              <a:t>Dataset overview</a:t>
            </a:r>
          </a:p>
        </p:txBody>
      </p:sp>
      <p:sp>
        <p:nvSpPr>
          <p:cNvPr id="4" name="Rectangle 1">
            <a:extLst>
              <a:ext uri="{FF2B5EF4-FFF2-40B4-BE49-F238E27FC236}">
                <a16:creationId xmlns:a16="http://schemas.microsoft.com/office/drawing/2014/main" id="{A3F5D4DD-2761-D615-4AAF-86F9F0CDF2EF}"/>
              </a:ext>
            </a:extLst>
          </p:cNvPr>
          <p:cNvSpPr>
            <a:spLocks noChangeArrowheads="1"/>
          </p:cNvSpPr>
          <p:nvPr/>
        </p:nvSpPr>
        <p:spPr bwMode="auto">
          <a:xfrm>
            <a:off x="855037" y="953069"/>
            <a:ext cx="993516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endParaRPr lang="en-US" altLang="en-US" sz="2400" b="1" dirty="0">
              <a:latin typeface="Arial" panose="020B0604020202020204" pitchFamily="34" charset="0"/>
            </a:endParaRPr>
          </a:p>
          <a:p>
            <a:pPr lvl="0" defTabSz="914400" eaLnBrk="0" fontAlgn="base" hangingPunct="0">
              <a:spcBef>
                <a:spcPct val="0"/>
              </a:spcBef>
              <a:spcAft>
                <a:spcPct val="0"/>
              </a:spcAft>
            </a:pPr>
            <a:endParaRPr lang="en-US" altLang="en-US" sz="2400" b="1" dirty="0">
              <a:latin typeface="Arial" panose="020B0604020202020204" pitchFamily="34" charset="0"/>
            </a:endParaRPr>
          </a:p>
          <a:p>
            <a:pPr lvl="0" defTabSz="914400" eaLnBrk="0" fontAlgn="base" hangingPunct="0">
              <a:spcBef>
                <a:spcPct val="0"/>
              </a:spcBef>
              <a:spcAft>
                <a:spcPct val="0"/>
              </a:spcAft>
            </a:pPr>
            <a:endParaRPr lang="en-US" altLang="en-US" sz="2400" b="1" dirty="0">
              <a:latin typeface="Arial" panose="020B0604020202020204" pitchFamily="34" charset="0"/>
            </a:endParaRPr>
          </a:p>
          <a:p>
            <a:pPr lvl="0" defTabSz="914400" eaLnBrk="0" fontAlgn="base" hangingPunct="0">
              <a:spcBef>
                <a:spcPct val="0"/>
              </a:spcBef>
              <a:spcAft>
                <a:spcPct val="0"/>
              </a:spcAft>
            </a:pPr>
            <a:r>
              <a:rPr lang="en-US" altLang="en-US" sz="2400" b="1" dirty="0">
                <a:latin typeface="Arial" panose="020B0604020202020204" pitchFamily="34" charset="0"/>
              </a:rPr>
              <a:t>Features:</a:t>
            </a:r>
            <a:r>
              <a:rPr lang="en-US" altLang="en-US" sz="2400" dirty="0">
                <a:latin typeface="Arial" panose="020B0604020202020204" pitchFamily="34" charset="0"/>
              </a:rPr>
              <a:t> </a:t>
            </a:r>
            <a:r>
              <a:rPr lang="en-US" altLang="en-US" sz="2400" dirty="0" err="1">
                <a:latin typeface="Arial" panose="020B0604020202020204" pitchFamily="34" charset="0"/>
              </a:rPr>
              <a:t>Loan_ID</a:t>
            </a:r>
            <a:r>
              <a:rPr lang="en-US" altLang="en-US" sz="2400" dirty="0">
                <a:latin typeface="Arial" panose="020B0604020202020204" pitchFamily="34" charset="0"/>
              </a:rPr>
              <a:t>, Gender, Married, Dependents, Education, </a:t>
            </a:r>
            <a:r>
              <a:rPr lang="en-US" altLang="en-US" sz="2400" dirty="0" err="1">
                <a:latin typeface="Arial" panose="020B0604020202020204" pitchFamily="34" charset="0"/>
              </a:rPr>
              <a:t>Self_Employed</a:t>
            </a:r>
            <a:r>
              <a:rPr lang="en-US" altLang="en-US" sz="2400" dirty="0">
                <a:latin typeface="Arial" panose="020B0604020202020204" pitchFamily="34" charset="0"/>
              </a:rPr>
              <a:t>, </a:t>
            </a:r>
            <a:r>
              <a:rPr lang="en-US" altLang="en-US" sz="2400" dirty="0" err="1">
                <a:latin typeface="Arial" panose="020B0604020202020204" pitchFamily="34" charset="0"/>
              </a:rPr>
              <a:t>ApplicantIncome</a:t>
            </a:r>
            <a:r>
              <a:rPr lang="en-US" altLang="en-US" sz="2400" dirty="0">
                <a:latin typeface="Arial" panose="020B0604020202020204" pitchFamily="34" charset="0"/>
              </a:rPr>
              <a:t>, </a:t>
            </a:r>
            <a:r>
              <a:rPr lang="en-US" altLang="en-US" sz="2400" dirty="0" err="1">
                <a:latin typeface="Arial" panose="020B0604020202020204" pitchFamily="34" charset="0"/>
              </a:rPr>
              <a:t>CoapplicantIncome</a:t>
            </a:r>
            <a:r>
              <a:rPr lang="en-US" altLang="en-US" sz="2400" dirty="0">
                <a:latin typeface="Arial" panose="020B0604020202020204" pitchFamily="34" charset="0"/>
              </a:rPr>
              <a:t>, </a:t>
            </a:r>
            <a:r>
              <a:rPr lang="en-US" altLang="en-US" sz="2400" dirty="0" err="1">
                <a:latin typeface="Arial" panose="020B0604020202020204" pitchFamily="34" charset="0"/>
              </a:rPr>
              <a:t>LoanAmount</a:t>
            </a:r>
            <a:r>
              <a:rPr lang="en-US" altLang="en-US" sz="2400" dirty="0">
                <a:latin typeface="Arial" panose="020B0604020202020204" pitchFamily="34" charset="0"/>
              </a:rPr>
              <a:t>, </a:t>
            </a:r>
            <a:r>
              <a:rPr lang="en-US" altLang="en-US" sz="2400" dirty="0" err="1">
                <a:latin typeface="Arial" panose="020B0604020202020204" pitchFamily="34" charset="0"/>
              </a:rPr>
              <a:t>Loan_Amount_Term</a:t>
            </a:r>
            <a:r>
              <a:rPr lang="en-US" altLang="en-US" sz="2400" dirty="0">
                <a:latin typeface="Arial" panose="020B0604020202020204" pitchFamily="34" charset="0"/>
              </a:rPr>
              <a:t>, </a:t>
            </a:r>
            <a:r>
              <a:rPr lang="en-US" altLang="en-US" sz="2400" dirty="0" err="1">
                <a:latin typeface="Arial" panose="020B0604020202020204" pitchFamily="34" charset="0"/>
              </a:rPr>
              <a:t>Credit_History</a:t>
            </a:r>
            <a:r>
              <a:rPr lang="en-US" altLang="en-US" sz="2400" dirty="0">
                <a:latin typeface="Arial" panose="020B0604020202020204" pitchFamily="34" charset="0"/>
              </a:rPr>
              <a:t>, </a:t>
            </a:r>
            <a:r>
              <a:rPr lang="en-US" altLang="en-US" sz="2400" dirty="0" err="1">
                <a:latin typeface="Arial" panose="020B0604020202020204" pitchFamily="34" charset="0"/>
              </a:rPr>
              <a:t>Property_Area</a:t>
            </a:r>
            <a:r>
              <a:rPr lang="en-US" altLang="en-US" sz="2400" dirty="0">
                <a:latin typeface="Arial" panose="020B0604020202020204" pitchFamily="34" charset="0"/>
              </a:rPr>
              <a:t>.</a:t>
            </a:r>
          </a:p>
          <a:p>
            <a:pPr lvl="0" defTabSz="914400" eaLnBrk="0" fontAlgn="base" hangingPunct="0">
              <a:spcBef>
                <a:spcPct val="0"/>
              </a:spcBef>
              <a:spcAft>
                <a:spcPct val="0"/>
              </a:spcAft>
              <a:buFontTx/>
              <a:buChar char="•"/>
            </a:pPr>
            <a:endParaRPr lang="en-US" altLang="en-US" sz="2400" dirty="0">
              <a:latin typeface="Arial" panose="020B0604020202020204" pitchFamily="34" charset="0"/>
            </a:endParaRPr>
          </a:p>
          <a:p>
            <a:pPr lvl="0" defTabSz="914400" eaLnBrk="0" fontAlgn="base" hangingPunct="0">
              <a:spcBef>
                <a:spcPct val="0"/>
              </a:spcBef>
              <a:spcAft>
                <a:spcPct val="0"/>
              </a:spcAft>
              <a:buFontTx/>
              <a:buChar char="•"/>
            </a:pPr>
            <a:r>
              <a:rPr lang="en-US" altLang="en-US" sz="2400" b="1" dirty="0">
                <a:latin typeface="Arial" panose="020B0604020202020204" pitchFamily="34" charset="0"/>
              </a:rPr>
              <a:t>Target Variable:</a:t>
            </a:r>
            <a:r>
              <a:rPr lang="en-US" altLang="en-US" sz="2400" dirty="0">
                <a:latin typeface="Arial" panose="020B0604020202020204" pitchFamily="34" charset="0"/>
              </a:rPr>
              <a:t> </a:t>
            </a:r>
            <a:r>
              <a:rPr lang="en-US" altLang="en-US" sz="2400" dirty="0" err="1">
                <a:latin typeface="Arial" panose="020B0604020202020204" pitchFamily="34" charset="0"/>
              </a:rPr>
              <a:t>Loan_Status</a:t>
            </a:r>
            <a:r>
              <a:rPr lang="en-US" altLang="en-US" sz="2400" dirty="0">
                <a:latin typeface="Arial" panose="020B0604020202020204" pitchFamily="34" charset="0"/>
              </a:rPr>
              <a:t> (Approved/Not Approved).</a:t>
            </a:r>
          </a:p>
          <a:p>
            <a:pPr lvl="0" defTabSz="914400" eaLnBrk="0" fontAlgn="base" hangingPunct="0">
              <a:spcBef>
                <a:spcPct val="0"/>
              </a:spcBef>
              <a:spcAft>
                <a:spcPct val="0"/>
              </a:spcAft>
              <a:buFontTx/>
              <a:buChar char="•"/>
            </a:pPr>
            <a:endParaRPr lang="en-US" altLang="en-US" sz="2400" dirty="0">
              <a:latin typeface="Arial" panose="020B0604020202020204" pitchFamily="34" charset="0"/>
            </a:endParaRPr>
          </a:p>
          <a:p>
            <a:pPr lvl="0" defTabSz="914400" eaLnBrk="0" fontAlgn="base" hangingPunct="0">
              <a:spcBef>
                <a:spcPct val="0"/>
              </a:spcBef>
              <a:spcAft>
                <a:spcPct val="0"/>
              </a:spcAft>
              <a:buFontTx/>
              <a:buChar char="•"/>
            </a:pPr>
            <a:r>
              <a:rPr lang="en-US" altLang="en-US" sz="2400" b="1" dirty="0">
                <a:latin typeface="Arial" panose="020B0604020202020204" pitchFamily="34" charset="0"/>
              </a:rPr>
              <a:t>Dataset Size: </a:t>
            </a:r>
            <a:r>
              <a:rPr lang="en-US" altLang="en-US" sz="2400" dirty="0">
                <a:latin typeface="Arial" panose="020B0604020202020204" pitchFamily="34" charset="0"/>
              </a:rPr>
              <a:t>Dataset includes 614 Rows and 13 Columns </a:t>
            </a:r>
          </a:p>
        </p:txBody>
      </p:sp>
    </p:spTree>
    <p:extLst>
      <p:ext uri="{BB962C8B-B14F-4D97-AF65-F5344CB8AC3E}">
        <p14:creationId xmlns:p14="http://schemas.microsoft.com/office/powerpoint/2010/main" val="1625349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DB33A-24C1-329A-64FB-0BE1ACFE5423}"/>
              </a:ext>
            </a:extLst>
          </p:cNvPr>
          <p:cNvSpPr>
            <a:spLocks noGrp="1"/>
          </p:cNvSpPr>
          <p:nvPr>
            <p:ph type="title"/>
          </p:nvPr>
        </p:nvSpPr>
        <p:spPr>
          <a:xfrm>
            <a:off x="1828800" y="66161"/>
            <a:ext cx="8534400" cy="1507067"/>
          </a:xfrm>
        </p:spPr>
        <p:txBody>
          <a:bodyPr/>
          <a:lstStyle/>
          <a:p>
            <a:pPr algn="ctr"/>
            <a:r>
              <a:rPr lang="en-IN" sz="4400" b="1" dirty="0"/>
              <a:t>TECHNOLOGY</a:t>
            </a:r>
            <a:r>
              <a:rPr lang="en-IN" dirty="0"/>
              <a:t> </a:t>
            </a:r>
            <a:r>
              <a:rPr lang="en-IN" sz="4400" b="1" dirty="0"/>
              <a:t>USED</a:t>
            </a:r>
          </a:p>
        </p:txBody>
      </p:sp>
      <p:sp>
        <p:nvSpPr>
          <p:cNvPr id="4" name="Rectangle 1">
            <a:extLst>
              <a:ext uri="{FF2B5EF4-FFF2-40B4-BE49-F238E27FC236}">
                <a16:creationId xmlns:a16="http://schemas.microsoft.com/office/drawing/2014/main" id="{0EFC792E-B12E-C004-D223-55ED1324259F}"/>
              </a:ext>
            </a:extLst>
          </p:cNvPr>
          <p:cNvSpPr>
            <a:spLocks noChangeArrowheads="1"/>
          </p:cNvSpPr>
          <p:nvPr/>
        </p:nvSpPr>
        <p:spPr bwMode="auto">
          <a:xfrm>
            <a:off x="827992" y="1757894"/>
            <a:ext cx="953520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n-US" altLang="en-US" sz="2400" b="1" dirty="0">
                <a:latin typeface="Arial" panose="020B0604020202020204" pitchFamily="34" charset="0"/>
              </a:rPr>
              <a:t>Programming Language:</a:t>
            </a:r>
            <a:endParaRPr lang="en-US" altLang="en-US" sz="2400" dirty="0">
              <a:latin typeface="Arial" panose="020B0604020202020204" pitchFamily="34" charset="0"/>
            </a:endParaRPr>
          </a:p>
          <a:p>
            <a:pPr lvl="0" defTabSz="914400" eaLnBrk="0" fontAlgn="base" hangingPunct="0">
              <a:spcBef>
                <a:spcPct val="0"/>
              </a:spcBef>
              <a:spcAft>
                <a:spcPct val="0"/>
              </a:spcAft>
              <a:buFontTx/>
              <a:buChar char="•"/>
            </a:pPr>
            <a:r>
              <a:rPr lang="en-US" altLang="en-US" sz="2400" b="1" dirty="0">
                <a:latin typeface="Arial" panose="020B0604020202020204" pitchFamily="34" charset="0"/>
              </a:rPr>
              <a:t>Python:</a:t>
            </a:r>
            <a:r>
              <a:rPr lang="en-US" altLang="en-US" sz="2400" dirty="0">
                <a:latin typeface="Arial" panose="020B0604020202020204" pitchFamily="34" charset="0"/>
              </a:rPr>
              <a:t> The primary language used for data manipulation, model building, and evaluation.</a:t>
            </a:r>
          </a:p>
          <a:p>
            <a:pPr lvl="0" defTabSz="914400" eaLnBrk="0" fontAlgn="base" hangingPunct="0">
              <a:spcBef>
                <a:spcPct val="0"/>
              </a:spcBef>
              <a:spcAft>
                <a:spcPct val="0"/>
              </a:spcAft>
              <a:buFontTx/>
              <a:buChar char="•"/>
            </a:pPr>
            <a:r>
              <a:rPr lang="en-US" altLang="en-US" sz="2400" b="1" dirty="0">
                <a:latin typeface="Arial" panose="020B0604020202020204" pitchFamily="34" charset="0"/>
              </a:rPr>
              <a:t>Libraries:</a:t>
            </a:r>
            <a:endParaRPr lang="en-US" altLang="en-US" sz="2400" dirty="0">
              <a:latin typeface="Arial" panose="020B0604020202020204" pitchFamily="34" charset="0"/>
            </a:endParaRPr>
          </a:p>
          <a:p>
            <a:pPr lvl="0" defTabSz="914400" eaLnBrk="0" fontAlgn="base" hangingPunct="0">
              <a:spcBef>
                <a:spcPct val="0"/>
              </a:spcBef>
              <a:spcAft>
                <a:spcPct val="0"/>
              </a:spcAft>
              <a:buFontTx/>
              <a:buChar char="•"/>
            </a:pPr>
            <a:r>
              <a:rPr lang="en-US" altLang="en-US" sz="2400" b="1" dirty="0">
                <a:latin typeface="Arial" panose="020B0604020202020204" pitchFamily="34" charset="0"/>
              </a:rPr>
              <a:t>Pandas:</a:t>
            </a:r>
            <a:r>
              <a:rPr lang="en-US" altLang="en-US" sz="2400" dirty="0">
                <a:latin typeface="Arial" panose="020B0604020202020204" pitchFamily="34" charset="0"/>
              </a:rPr>
              <a:t> For data loading, preprocessing, and manipulation.</a:t>
            </a:r>
          </a:p>
          <a:p>
            <a:pPr lvl="0" defTabSz="914400" eaLnBrk="0" fontAlgn="base" hangingPunct="0">
              <a:spcBef>
                <a:spcPct val="0"/>
              </a:spcBef>
              <a:spcAft>
                <a:spcPct val="0"/>
              </a:spcAft>
              <a:buFontTx/>
              <a:buChar char="•"/>
            </a:pPr>
            <a:r>
              <a:rPr lang="en-US" altLang="en-US" sz="2400" b="1" dirty="0">
                <a:latin typeface="Arial" panose="020B0604020202020204" pitchFamily="34" charset="0"/>
              </a:rPr>
              <a:t>Scikit-learn:</a:t>
            </a:r>
            <a:r>
              <a:rPr lang="en-US" altLang="en-US" sz="2400" dirty="0">
                <a:latin typeface="Arial" panose="020B0604020202020204" pitchFamily="34" charset="0"/>
              </a:rPr>
              <a:t> Used for model building, training, evaluation, and hyperparameter tuning.</a:t>
            </a:r>
          </a:p>
          <a:p>
            <a:pPr lvl="0" defTabSz="914400" eaLnBrk="0" fontAlgn="base" hangingPunct="0">
              <a:spcBef>
                <a:spcPct val="0"/>
              </a:spcBef>
              <a:spcAft>
                <a:spcPct val="0"/>
              </a:spcAft>
              <a:buFontTx/>
              <a:buChar char="•"/>
            </a:pPr>
            <a:r>
              <a:rPr lang="en-US" altLang="en-US" sz="2400" b="1" dirty="0">
                <a:latin typeface="Arial" panose="020B0604020202020204" pitchFamily="34" charset="0"/>
              </a:rPr>
              <a:t>Matplotlib &amp; Seaborn:</a:t>
            </a:r>
            <a:r>
              <a:rPr lang="en-US" altLang="en-US" sz="2400" dirty="0">
                <a:latin typeface="Arial" panose="020B0604020202020204" pitchFamily="34" charset="0"/>
              </a:rPr>
              <a:t> Employed for data visualization, providing insights into the data distribution and feature relationships.</a:t>
            </a:r>
          </a:p>
          <a:p>
            <a:pPr lvl="0" defTabSz="914400" eaLnBrk="0" fontAlgn="base" hangingPunct="0">
              <a:spcBef>
                <a:spcPct val="0"/>
              </a:spcBef>
              <a:spcAft>
                <a:spcPct val="0"/>
              </a:spcAft>
              <a:buFontTx/>
              <a:buChar char="•"/>
            </a:pPr>
            <a:r>
              <a:rPr lang="en-US" altLang="en-US" sz="2400" b="1" dirty="0">
                <a:latin typeface="Arial" panose="020B0604020202020204" pitchFamily="34" charset="0"/>
              </a:rPr>
              <a:t>Development Environment:</a:t>
            </a:r>
            <a:endParaRPr lang="en-US" altLang="en-US" sz="2400" dirty="0">
              <a:latin typeface="Arial" panose="020B0604020202020204" pitchFamily="34" charset="0"/>
            </a:endParaRPr>
          </a:p>
          <a:p>
            <a:pPr lvl="0" defTabSz="914400" eaLnBrk="0" fontAlgn="base" hangingPunct="0">
              <a:spcBef>
                <a:spcPct val="0"/>
              </a:spcBef>
              <a:spcAft>
                <a:spcPct val="0"/>
              </a:spcAft>
              <a:buFontTx/>
              <a:buChar char="•"/>
            </a:pPr>
            <a:r>
              <a:rPr lang="en-US" altLang="en-US" sz="2400" b="1" dirty="0" err="1">
                <a:latin typeface="Arial" panose="020B0604020202020204" pitchFamily="34" charset="0"/>
              </a:rPr>
              <a:t>Jupyter</a:t>
            </a:r>
            <a:r>
              <a:rPr lang="en-US" altLang="en-US" sz="2400" b="1" dirty="0">
                <a:latin typeface="Arial" panose="020B0604020202020204" pitchFamily="34" charset="0"/>
              </a:rPr>
              <a:t> Notebook: It is the original web application for creating and sharing computational documents.</a:t>
            </a:r>
            <a:endParaRPr lang="en-US" altLang="en-US" sz="2400" dirty="0">
              <a:latin typeface="Arial" panose="020B0604020202020204" pitchFamily="34" charset="0"/>
            </a:endParaRPr>
          </a:p>
        </p:txBody>
      </p:sp>
    </p:spTree>
    <p:extLst>
      <p:ext uri="{BB962C8B-B14F-4D97-AF65-F5344CB8AC3E}">
        <p14:creationId xmlns:p14="http://schemas.microsoft.com/office/powerpoint/2010/main" val="233484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06F54-7E97-F597-BB8B-CB72E090B9BD}"/>
              </a:ext>
            </a:extLst>
          </p:cNvPr>
          <p:cNvSpPr>
            <a:spLocks noGrp="1"/>
          </p:cNvSpPr>
          <p:nvPr>
            <p:ph type="title"/>
          </p:nvPr>
        </p:nvSpPr>
        <p:spPr>
          <a:xfrm>
            <a:off x="1828800" y="0"/>
            <a:ext cx="8534400" cy="1507067"/>
          </a:xfrm>
        </p:spPr>
        <p:txBody>
          <a:bodyPr>
            <a:normAutofit/>
          </a:bodyPr>
          <a:lstStyle/>
          <a:p>
            <a:pPr algn="ctr"/>
            <a:r>
              <a:rPr lang="en-IN" sz="4400" b="1" dirty="0"/>
              <a:t>Data visualization </a:t>
            </a:r>
          </a:p>
        </p:txBody>
      </p:sp>
      <p:pic>
        <p:nvPicPr>
          <p:cNvPr id="4" name="Picture 3">
            <a:extLst>
              <a:ext uri="{FF2B5EF4-FFF2-40B4-BE49-F238E27FC236}">
                <a16:creationId xmlns:a16="http://schemas.microsoft.com/office/drawing/2014/main" id="{6F4E1B4B-6A39-7040-1854-58173A7D83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67" y="1337146"/>
            <a:ext cx="4543647" cy="2485064"/>
          </a:xfrm>
          <a:prstGeom prst="rect">
            <a:avLst/>
          </a:prstGeom>
        </p:spPr>
      </p:pic>
      <p:pic>
        <p:nvPicPr>
          <p:cNvPr id="6" name="Picture 5">
            <a:extLst>
              <a:ext uri="{FF2B5EF4-FFF2-40B4-BE49-F238E27FC236}">
                <a16:creationId xmlns:a16="http://schemas.microsoft.com/office/drawing/2014/main" id="{597B04F1-C8AD-96F6-A034-96670BA329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7497" y="1337146"/>
            <a:ext cx="4543647" cy="2389372"/>
          </a:xfrm>
          <a:prstGeom prst="rect">
            <a:avLst/>
          </a:prstGeom>
        </p:spPr>
      </p:pic>
      <p:pic>
        <p:nvPicPr>
          <p:cNvPr id="8" name="Picture 7">
            <a:extLst>
              <a:ext uri="{FF2B5EF4-FFF2-40B4-BE49-F238E27FC236}">
                <a16:creationId xmlns:a16="http://schemas.microsoft.com/office/drawing/2014/main" id="{6E499214-9663-ED64-CF4B-2DF0E4054E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2911" y="4008474"/>
            <a:ext cx="4426177" cy="2622456"/>
          </a:xfrm>
          <a:prstGeom prst="rect">
            <a:avLst/>
          </a:prstGeom>
        </p:spPr>
      </p:pic>
    </p:spTree>
    <p:extLst>
      <p:ext uri="{BB962C8B-B14F-4D97-AF65-F5344CB8AC3E}">
        <p14:creationId xmlns:p14="http://schemas.microsoft.com/office/powerpoint/2010/main" val="2376121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A85FF-6230-B058-FEE4-3711598FDA03}"/>
              </a:ext>
            </a:extLst>
          </p:cNvPr>
          <p:cNvSpPr>
            <a:spLocks noGrp="1"/>
          </p:cNvSpPr>
          <p:nvPr>
            <p:ph type="title"/>
          </p:nvPr>
        </p:nvSpPr>
        <p:spPr>
          <a:xfrm>
            <a:off x="1828800" y="85015"/>
            <a:ext cx="8534400" cy="1507067"/>
          </a:xfrm>
        </p:spPr>
        <p:txBody>
          <a:bodyPr>
            <a:normAutofit/>
          </a:bodyPr>
          <a:lstStyle/>
          <a:p>
            <a:pPr algn="ctr"/>
            <a:r>
              <a:rPr lang="en-IN" sz="4400" b="1" dirty="0"/>
              <a:t>Overall loan distribution</a:t>
            </a:r>
          </a:p>
        </p:txBody>
      </p:sp>
      <p:pic>
        <p:nvPicPr>
          <p:cNvPr id="5122" name="Picture 2">
            <a:extLst>
              <a:ext uri="{FF2B5EF4-FFF2-40B4-BE49-F238E27FC236}">
                <a16:creationId xmlns:a16="http://schemas.microsoft.com/office/drawing/2014/main" id="{16C48A18-F018-E94F-04EB-D87D52B59B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5563" y="1979923"/>
            <a:ext cx="7400874" cy="3907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694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AA99-74D9-235B-DCE9-04E9CE5FE63E}"/>
              </a:ext>
            </a:extLst>
          </p:cNvPr>
          <p:cNvSpPr>
            <a:spLocks noGrp="1"/>
          </p:cNvSpPr>
          <p:nvPr>
            <p:ph type="title"/>
          </p:nvPr>
        </p:nvSpPr>
        <p:spPr>
          <a:xfrm>
            <a:off x="1828800" y="0"/>
            <a:ext cx="8534400" cy="1507067"/>
          </a:xfrm>
        </p:spPr>
        <p:txBody>
          <a:bodyPr>
            <a:normAutofit/>
          </a:bodyPr>
          <a:lstStyle/>
          <a:p>
            <a:pPr algn="ctr"/>
            <a:r>
              <a:rPr lang="en-IN" sz="4400" b="1" dirty="0"/>
              <a:t>Data preprocessing</a:t>
            </a:r>
          </a:p>
        </p:txBody>
      </p:sp>
      <p:sp>
        <p:nvSpPr>
          <p:cNvPr id="4" name="Rectangle 1">
            <a:extLst>
              <a:ext uri="{FF2B5EF4-FFF2-40B4-BE49-F238E27FC236}">
                <a16:creationId xmlns:a16="http://schemas.microsoft.com/office/drawing/2014/main" id="{98C02747-47CB-B33A-3B0B-62142827F85B}"/>
              </a:ext>
            </a:extLst>
          </p:cNvPr>
          <p:cNvSpPr>
            <a:spLocks noChangeArrowheads="1"/>
          </p:cNvSpPr>
          <p:nvPr/>
        </p:nvSpPr>
        <p:spPr bwMode="auto">
          <a:xfrm>
            <a:off x="338705" y="1660956"/>
            <a:ext cx="1151458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2000" b="1" dirty="0">
                <a:latin typeface="Arial" panose="020B0604020202020204" pitchFamily="34" charset="0"/>
              </a:rPr>
              <a:t>Handling Missing Values:</a:t>
            </a:r>
            <a:endParaRPr lang="en-US" altLang="en-US" sz="2000" dirty="0">
              <a:latin typeface="Arial" panose="020B0604020202020204" pitchFamily="34" charset="0"/>
            </a:endParaRP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Categorical columns (e.g., Gender, Married) were filled with the mode (most frequent value).</a:t>
            </a: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Numerical columns (e.g., </a:t>
            </a:r>
            <a:r>
              <a:rPr lang="en-US" altLang="en-US" sz="2000" dirty="0" err="1">
                <a:latin typeface="Arial" panose="020B0604020202020204" pitchFamily="34" charset="0"/>
              </a:rPr>
              <a:t>LoanAmount</a:t>
            </a:r>
            <a:r>
              <a:rPr lang="en-US" altLang="en-US" sz="2000" dirty="0">
                <a:latin typeface="Arial" panose="020B0604020202020204" pitchFamily="34" charset="0"/>
              </a:rPr>
              <a:t>, </a:t>
            </a:r>
            <a:r>
              <a:rPr lang="en-US" altLang="en-US" sz="2000" dirty="0" err="1">
                <a:latin typeface="Arial" panose="020B0604020202020204" pitchFamily="34" charset="0"/>
              </a:rPr>
              <a:t>Loan_Amount_Term</a:t>
            </a:r>
            <a:r>
              <a:rPr lang="en-US" altLang="en-US" sz="2000" dirty="0">
                <a:latin typeface="Arial" panose="020B0604020202020204" pitchFamily="34" charset="0"/>
              </a:rPr>
              <a:t>) were filled with the mode and median to handle missing data.</a:t>
            </a:r>
          </a:p>
          <a:p>
            <a:pPr lvl="0" defTabSz="914400" eaLnBrk="0" fontAlgn="base" hangingPunct="0">
              <a:spcBef>
                <a:spcPct val="0"/>
              </a:spcBef>
              <a:spcAft>
                <a:spcPct val="0"/>
              </a:spcAft>
            </a:pPr>
            <a:r>
              <a:rPr lang="en-US" altLang="en-US" sz="2000" b="1" dirty="0">
                <a:latin typeface="Arial" panose="020B0604020202020204" pitchFamily="34" charset="0"/>
              </a:rPr>
              <a:t>Encoding Categorical Variables:</a:t>
            </a:r>
            <a:endParaRPr lang="en-US" altLang="en-US" sz="2000" dirty="0">
              <a:latin typeface="Arial" panose="020B0604020202020204" pitchFamily="34" charset="0"/>
            </a:endParaRP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Label Encoding was applied to convert categorical features like Gender, Married, Education, and </a:t>
            </a:r>
            <a:r>
              <a:rPr lang="en-US" altLang="en-US" sz="2000" dirty="0" err="1">
                <a:latin typeface="Arial" panose="020B0604020202020204" pitchFamily="34" charset="0"/>
              </a:rPr>
              <a:t>Property_Area</a:t>
            </a:r>
            <a:r>
              <a:rPr lang="en-US" altLang="en-US" sz="2000" dirty="0">
                <a:latin typeface="Arial" panose="020B0604020202020204" pitchFamily="34" charset="0"/>
              </a:rPr>
              <a:t> into numerical form.</a:t>
            </a:r>
          </a:p>
          <a:p>
            <a:pPr lvl="0" defTabSz="914400" eaLnBrk="0" fontAlgn="base" hangingPunct="0">
              <a:spcBef>
                <a:spcPct val="0"/>
              </a:spcBef>
              <a:spcAft>
                <a:spcPct val="0"/>
              </a:spcAft>
            </a:pPr>
            <a:r>
              <a:rPr lang="en-US" altLang="en-US" sz="2000" b="1" dirty="0">
                <a:latin typeface="Arial" panose="020B0604020202020204" pitchFamily="34" charset="0"/>
              </a:rPr>
              <a:t>Feature Engineering:</a:t>
            </a:r>
            <a:endParaRPr lang="en-US" altLang="en-US" sz="2000" dirty="0">
              <a:latin typeface="Arial" panose="020B0604020202020204" pitchFamily="34" charset="0"/>
            </a:endParaRP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Created a new feature </a:t>
            </a:r>
            <a:r>
              <a:rPr lang="en-US" altLang="en-US" sz="2000" dirty="0" err="1">
                <a:latin typeface="Arial" panose="020B0604020202020204" pitchFamily="34" charset="0"/>
                <a:cs typeface="Arial" panose="020B0604020202020204" pitchFamily="34" charset="0"/>
              </a:rPr>
              <a:t>TotalIncome</a:t>
            </a:r>
            <a:r>
              <a:rPr lang="en-US" altLang="en-US" sz="2000" dirty="0"/>
              <a:t> </a:t>
            </a:r>
            <a:r>
              <a:rPr lang="en-US" altLang="en-US" sz="2000" dirty="0">
                <a:latin typeface="Arial" panose="020B0604020202020204" pitchFamily="34" charset="0"/>
                <a:cs typeface="Arial" panose="020B0604020202020204" pitchFamily="34" charset="0"/>
              </a:rPr>
              <a:t>by combining Applicant Income and </a:t>
            </a:r>
            <a:r>
              <a:rPr lang="en-US" altLang="en-US" sz="2000" dirty="0" err="1">
                <a:latin typeface="Arial" panose="020B0604020202020204" pitchFamily="34" charset="0"/>
                <a:cs typeface="Arial" panose="020B0604020202020204" pitchFamily="34" charset="0"/>
              </a:rPr>
              <a:t>Coapplicant</a:t>
            </a:r>
            <a:r>
              <a:rPr lang="en-US" altLang="en-US" sz="2000" dirty="0">
                <a:latin typeface="Arial" panose="020B0604020202020204" pitchFamily="34" charset="0"/>
                <a:cs typeface="Arial" panose="020B0604020202020204" pitchFamily="34" charset="0"/>
              </a:rPr>
              <a:t> Income to better represent the financial capacity of the applicant.</a:t>
            </a:r>
            <a:r>
              <a:rPr lang="en-US" altLang="en-US" sz="2000" dirty="0"/>
              <a:t> </a:t>
            </a:r>
            <a:endParaRPr lang="en-US" altLang="en-US" sz="2000" dirty="0">
              <a:latin typeface="Arial" panose="020B0604020202020204" pitchFamily="34" charset="0"/>
            </a:endParaRPr>
          </a:p>
          <a:p>
            <a:pPr lvl="0" defTabSz="914400" eaLnBrk="0" fontAlgn="base" hangingPunct="0">
              <a:spcBef>
                <a:spcPct val="0"/>
              </a:spcBef>
              <a:spcAft>
                <a:spcPct val="0"/>
              </a:spcAft>
            </a:pPr>
            <a:r>
              <a:rPr lang="en-US" altLang="en-US" sz="2000" b="1" dirty="0">
                <a:latin typeface="Arial" panose="020B0604020202020204" pitchFamily="34" charset="0"/>
              </a:rPr>
              <a:t>Feature Scaling:</a:t>
            </a:r>
            <a:endParaRPr lang="en-US" altLang="en-US" sz="2000" dirty="0">
              <a:latin typeface="Arial" panose="020B0604020202020204" pitchFamily="34" charset="0"/>
            </a:endParaRP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Applied </a:t>
            </a:r>
            <a:r>
              <a:rPr lang="en-US" altLang="en-US" sz="2000" dirty="0" err="1">
                <a:latin typeface="Arial" panose="020B0604020202020204" pitchFamily="34" charset="0"/>
                <a:cs typeface="Arial" panose="020B0604020202020204" pitchFamily="34" charset="0"/>
              </a:rPr>
              <a:t>StandardScaler</a:t>
            </a:r>
            <a:r>
              <a:rPr lang="en-US" altLang="en-US" sz="2000" dirty="0"/>
              <a:t> </a:t>
            </a:r>
            <a:r>
              <a:rPr lang="en-US" altLang="en-US" sz="2000" dirty="0">
                <a:latin typeface="Arial" panose="020B0604020202020204" pitchFamily="34" charset="0"/>
                <a:cs typeface="Arial" panose="020B0604020202020204" pitchFamily="34" charset="0"/>
              </a:rPr>
              <a:t>to normalize features such as loan Amount and Total Income, ensuring all features are on a similar scale.</a:t>
            </a:r>
            <a:r>
              <a:rPr lang="en-US" altLang="en-US" sz="2000" dirty="0"/>
              <a:t> </a:t>
            </a:r>
            <a:r>
              <a:rPr lang="en-US" altLang="en-US" sz="2000" b="1" dirty="0">
                <a:latin typeface="Arial" panose="020B0604020202020204" pitchFamily="34" charset="0"/>
              </a:rPr>
              <a:t>Dataset Split:</a:t>
            </a:r>
            <a:endParaRPr lang="en-US" altLang="en-US" sz="2000" dirty="0">
              <a:latin typeface="Arial" panose="020B0604020202020204" pitchFamily="34" charset="0"/>
            </a:endParaRPr>
          </a:p>
          <a:p>
            <a:pPr marL="342900" lvl="0" indent="-342900" defTabSz="9144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The dataset was divided into training (75%) and testing (25%) sets to evaluate model performance on unseen data.</a:t>
            </a:r>
          </a:p>
        </p:txBody>
      </p:sp>
    </p:spTree>
    <p:extLst>
      <p:ext uri="{BB962C8B-B14F-4D97-AF65-F5344CB8AC3E}">
        <p14:creationId xmlns:p14="http://schemas.microsoft.com/office/powerpoint/2010/main" val="1852113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25F32-0AAE-3EA9-39F0-22186FB72BE1}"/>
              </a:ext>
            </a:extLst>
          </p:cNvPr>
          <p:cNvSpPr>
            <a:spLocks noGrp="1"/>
          </p:cNvSpPr>
          <p:nvPr>
            <p:ph type="title"/>
          </p:nvPr>
        </p:nvSpPr>
        <p:spPr>
          <a:xfrm>
            <a:off x="65989" y="0"/>
            <a:ext cx="11736370" cy="1507067"/>
          </a:xfrm>
        </p:spPr>
        <p:txBody>
          <a:bodyPr>
            <a:normAutofit/>
          </a:bodyPr>
          <a:lstStyle/>
          <a:p>
            <a:pPr algn="ctr"/>
            <a:r>
              <a:rPr lang="en-IN" sz="4400" b="1" dirty="0"/>
              <a:t>Model training and evaluation </a:t>
            </a:r>
          </a:p>
        </p:txBody>
      </p:sp>
      <p:sp>
        <p:nvSpPr>
          <p:cNvPr id="5" name="TextBox 4">
            <a:extLst>
              <a:ext uri="{FF2B5EF4-FFF2-40B4-BE49-F238E27FC236}">
                <a16:creationId xmlns:a16="http://schemas.microsoft.com/office/drawing/2014/main" id="{40ADE3CE-A780-EEB1-26EE-F04873AE19EC}"/>
              </a:ext>
            </a:extLst>
          </p:cNvPr>
          <p:cNvSpPr txBox="1"/>
          <p:nvPr/>
        </p:nvSpPr>
        <p:spPr>
          <a:xfrm>
            <a:off x="458770" y="1507067"/>
            <a:ext cx="11667241" cy="1600438"/>
          </a:xfrm>
          <a:prstGeom prst="rect">
            <a:avLst/>
          </a:prstGeom>
          <a:noFill/>
        </p:spPr>
        <p:txBody>
          <a:bodyPr wrap="square">
            <a:spAutoFit/>
          </a:bodyPr>
          <a:lstStyle/>
          <a:p>
            <a:pPr>
              <a:buFont typeface="Arial" panose="020B0604020202020204" pitchFamily="34" charset="0"/>
              <a:buChar char="•"/>
            </a:pPr>
            <a:endParaRPr lang="en-US" dirty="0"/>
          </a:p>
          <a:p>
            <a:pPr lvl="1"/>
            <a:r>
              <a:rPr lang="en-US" sz="2000" b="1" dirty="0">
                <a:latin typeface="Arial" panose="020B0604020202020204" pitchFamily="34" charset="0"/>
                <a:cs typeface="Arial" panose="020B0604020202020204" pitchFamily="34" charset="0"/>
              </a:rPr>
              <a:t>Logistic Regression:</a:t>
            </a:r>
            <a:endParaRPr lang="en-US" sz="2000" dirty="0">
              <a:latin typeface="Arial" panose="020B0604020202020204" pitchFamily="34" charset="0"/>
              <a:cs typeface="Arial" panose="020B0604020202020204" pitchFamily="34" charset="0"/>
            </a:endParaRPr>
          </a:p>
          <a:p>
            <a:pPr marL="1143000" lvl="2" indent="-228600">
              <a:buFont typeface="Arial" panose="020B0604020202020204" pitchFamily="34" charset="0"/>
              <a:buChar char="•"/>
            </a:pPr>
            <a:r>
              <a:rPr lang="en-US" sz="2000" b="1" dirty="0">
                <a:latin typeface="Arial" panose="020B0604020202020204" pitchFamily="34" charset="0"/>
                <a:cs typeface="Arial" panose="020B0604020202020204" pitchFamily="34" charset="0"/>
              </a:rPr>
              <a:t>Accuracy:</a:t>
            </a:r>
            <a:r>
              <a:rPr lang="en-US" sz="2000" dirty="0">
                <a:latin typeface="Arial" panose="020B0604020202020204" pitchFamily="34" charset="0"/>
                <a:cs typeface="Arial" panose="020B0604020202020204" pitchFamily="34" charset="0"/>
              </a:rPr>
              <a:t> Achieved 84% accuracy.</a:t>
            </a:r>
          </a:p>
          <a:p>
            <a:pPr marL="1143000" lvl="2" indent="-228600">
              <a:buFont typeface="Arial" panose="020B0604020202020204" pitchFamily="34" charset="0"/>
              <a:buChar char="•"/>
            </a:pPr>
            <a:r>
              <a:rPr lang="en-US" sz="2000" b="1" dirty="0">
                <a:latin typeface="Arial" panose="020B0604020202020204" pitchFamily="34" charset="0"/>
                <a:cs typeface="Arial" panose="020B0604020202020204" pitchFamily="34" charset="0"/>
              </a:rPr>
              <a:t>Confusion Matrix:</a:t>
            </a:r>
            <a:r>
              <a:rPr lang="en-US" sz="2000" dirty="0">
                <a:latin typeface="Arial" panose="020B0604020202020204" pitchFamily="34" charset="0"/>
                <a:cs typeface="Arial" panose="020B0604020202020204" pitchFamily="34" charset="0"/>
              </a:rPr>
              <a:t> Showed a strong ability to differentiate between approved and non-approved loans.</a:t>
            </a:r>
          </a:p>
        </p:txBody>
      </p:sp>
      <p:pic>
        <p:nvPicPr>
          <p:cNvPr id="4" name="Picture 3">
            <a:extLst>
              <a:ext uri="{FF2B5EF4-FFF2-40B4-BE49-F238E27FC236}">
                <a16:creationId xmlns:a16="http://schemas.microsoft.com/office/drawing/2014/main" id="{1039F290-5A1E-C57C-6DF4-5105AF30D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1534" y="3429000"/>
            <a:ext cx="7963582" cy="2812312"/>
          </a:xfrm>
          <a:prstGeom prst="rect">
            <a:avLst/>
          </a:prstGeom>
        </p:spPr>
      </p:pic>
    </p:spTree>
    <p:extLst>
      <p:ext uri="{BB962C8B-B14F-4D97-AF65-F5344CB8AC3E}">
        <p14:creationId xmlns:p14="http://schemas.microsoft.com/office/powerpoint/2010/main" val="2150072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4B9863-E100-0C09-1882-27D81D13D7B1}"/>
              </a:ext>
            </a:extLst>
          </p:cNvPr>
          <p:cNvSpPr txBox="1"/>
          <p:nvPr/>
        </p:nvSpPr>
        <p:spPr>
          <a:xfrm>
            <a:off x="603316" y="640172"/>
            <a:ext cx="11331018" cy="1015663"/>
          </a:xfrm>
          <a:prstGeom prst="rect">
            <a:avLst/>
          </a:prstGeom>
          <a:noFill/>
        </p:spPr>
        <p:txBody>
          <a:bodyPr wrap="square">
            <a:spAutoFit/>
          </a:bodyPr>
          <a:lstStyle/>
          <a:p>
            <a:pPr lvl="1"/>
            <a:r>
              <a:rPr lang="en-US" sz="2000" b="1" dirty="0">
                <a:latin typeface="Arial" panose="020B0604020202020204" pitchFamily="34" charset="0"/>
                <a:cs typeface="Arial" panose="020B0604020202020204" pitchFamily="34" charset="0"/>
              </a:rPr>
              <a:t>Random Forest:</a:t>
            </a:r>
            <a:endParaRPr lang="en-US" sz="2000" dirty="0">
              <a:latin typeface="Arial" panose="020B0604020202020204" pitchFamily="34" charset="0"/>
              <a:cs typeface="Arial" panose="020B0604020202020204" pitchFamily="34" charset="0"/>
            </a:endParaRPr>
          </a:p>
          <a:p>
            <a:pPr marL="1143000" lvl="2" indent="-228600">
              <a:buFont typeface="Arial" panose="020B0604020202020204" pitchFamily="34" charset="0"/>
              <a:buChar char="•"/>
            </a:pPr>
            <a:r>
              <a:rPr lang="en-US" sz="2000" b="1" dirty="0">
                <a:latin typeface="Arial" panose="020B0604020202020204" pitchFamily="34" charset="0"/>
                <a:cs typeface="Arial" panose="020B0604020202020204" pitchFamily="34" charset="0"/>
              </a:rPr>
              <a:t>Accuracy:</a:t>
            </a:r>
            <a:r>
              <a:rPr lang="en-US" sz="2000" dirty="0">
                <a:latin typeface="Arial" panose="020B0604020202020204" pitchFamily="34" charset="0"/>
                <a:cs typeface="Arial" panose="020B0604020202020204" pitchFamily="34" charset="0"/>
              </a:rPr>
              <a:t> Achieved 84% accuracy.</a:t>
            </a:r>
          </a:p>
          <a:p>
            <a:pPr marL="1143000" lvl="2" indent="-228600">
              <a:buFont typeface="Arial" panose="020B0604020202020204" pitchFamily="34" charset="0"/>
              <a:buChar char="•"/>
            </a:pPr>
            <a:r>
              <a:rPr lang="en-US" sz="2000" b="1" dirty="0">
                <a:latin typeface="Arial" panose="020B0604020202020204" pitchFamily="34" charset="0"/>
                <a:cs typeface="Arial" panose="020B0604020202020204" pitchFamily="34" charset="0"/>
              </a:rPr>
              <a:t>Confusion Matrix:</a:t>
            </a:r>
            <a:r>
              <a:rPr lang="en-US" sz="2000" dirty="0">
                <a:latin typeface="Arial" panose="020B0604020202020204" pitchFamily="34" charset="0"/>
                <a:cs typeface="Arial" panose="020B0604020202020204" pitchFamily="34" charset="0"/>
              </a:rPr>
              <a:t> Some misclassification, particularly with borderline cases.</a:t>
            </a:r>
          </a:p>
        </p:txBody>
      </p:sp>
      <p:pic>
        <p:nvPicPr>
          <p:cNvPr id="3" name="Picture 2">
            <a:extLst>
              <a:ext uri="{FF2B5EF4-FFF2-40B4-BE49-F238E27FC236}">
                <a16:creationId xmlns:a16="http://schemas.microsoft.com/office/drawing/2014/main" id="{1F7E001A-5FBC-50B5-9BBC-4D03D4BD5E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8335" y="2785882"/>
            <a:ext cx="7324521" cy="3159329"/>
          </a:xfrm>
          <a:prstGeom prst="rect">
            <a:avLst/>
          </a:prstGeom>
        </p:spPr>
      </p:pic>
    </p:spTree>
    <p:extLst>
      <p:ext uri="{BB962C8B-B14F-4D97-AF65-F5344CB8AC3E}">
        <p14:creationId xmlns:p14="http://schemas.microsoft.com/office/powerpoint/2010/main" val="2917481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0870C3-AAA8-C4E6-5CBA-4475D6997B2B}"/>
              </a:ext>
            </a:extLst>
          </p:cNvPr>
          <p:cNvSpPr txBox="1"/>
          <p:nvPr/>
        </p:nvSpPr>
        <p:spPr>
          <a:xfrm>
            <a:off x="259237" y="702356"/>
            <a:ext cx="11673525" cy="1015663"/>
          </a:xfrm>
          <a:prstGeom prst="rect">
            <a:avLst/>
          </a:prstGeom>
          <a:noFill/>
        </p:spPr>
        <p:txBody>
          <a:bodyPr wrap="square">
            <a:spAutoFit/>
          </a:bodyPr>
          <a:lstStyle/>
          <a:p>
            <a:pPr lvl="1"/>
            <a:r>
              <a:rPr lang="en-US" sz="2000" b="1" dirty="0">
                <a:latin typeface="Arial" panose="020B0604020202020204" pitchFamily="34" charset="0"/>
                <a:cs typeface="Arial" panose="020B0604020202020204" pitchFamily="34" charset="0"/>
              </a:rPr>
              <a:t>Decision Tree:</a:t>
            </a:r>
            <a:endParaRPr lang="en-US" sz="2000" dirty="0">
              <a:latin typeface="Arial" panose="020B0604020202020204" pitchFamily="34" charset="0"/>
              <a:cs typeface="Arial" panose="020B0604020202020204" pitchFamily="34" charset="0"/>
            </a:endParaRPr>
          </a:p>
          <a:p>
            <a:pPr marL="1143000" lvl="2" indent="-228600">
              <a:buFont typeface="Arial" panose="020B0604020202020204" pitchFamily="34" charset="0"/>
              <a:buChar char="•"/>
            </a:pPr>
            <a:r>
              <a:rPr lang="en-US" sz="2000" b="1" dirty="0">
                <a:latin typeface="Arial" panose="020B0604020202020204" pitchFamily="34" charset="0"/>
                <a:cs typeface="Arial" panose="020B0604020202020204" pitchFamily="34" charset="0"/>
              </a:rPr>
              <a:t>Accuracy:</a:t>
            </a:r>
            <a:r>
              <a:rPr lang="en-US" sz="2000" dirty="0">
                <a:latin typeface="Arial" panose="020B0604020202020204" pitchFamily="34" charset="0"/>
                <a:cs typeface="Arial" panose="020B0604020202020204" pitchFamily="34" charset="0"/>
              </a:rPr>
              <a:t> Achieved 75% accuracy.</a:t>
            </a:r>
          </a:p>
          <a:p>
            <a:pPr marL="1143000" lvl="2" indent="-228600">
              <a:buFont typeface="Arial" panose="020B0604020202020204" pitchFamily="34" charset="0"/>
              <a:buChar char="•"/>
            </a:pPr>
            <a:r>
              <a:rPr lang="en-US" sz="2000" b="1" dirty="0">
                <a:latin typeface="Arial" panose="020B0604020202020204" pitchFamily="34" charset="0"/>
                <a:cs typeface="Arial" panose="020B0604020202020204" pitchFamily="34" charset="0"/>
              </a:rPr>
              <a:t>Confusion Matrix:</a:t>
            </a:r>
            <a:r>
              <a:rPr lang="en-US" sz="2000" dirty="0">
                <a:latin typeface="Arial" panose="020B0604020202020204" pitchFamily="34" charset="0"/>
                <a:cs typeface="Arial" panose="020B0604020202020204" pitchFamily="34" charset="0"/>
              </a:rPr>
              <a:t> Showed more misclassification errors compared to other models</a:t>
            </a:r>
            <a:r>
              <a:rPr lang="en-US" sz="2000" dirty="0"/>
              <a:t>.</a:t>
            </a:r>
          </a:p>
        </p:txBody>
      </p:sp>
      <p:pic>
        <p:nvPicPr>
          <p:cNvPr id="3" name="Picture 2">
            <a:extLst>
              <a:ext uri="{FF2B5EF4-FFF2-40B4-BE49-F238E27FC236}">
                <a16:creationId xmlns:a16="http://schemas.microsoft.com/office/drawing/2014/main" id="{0C3E4EB1-387B-B9D1-2833-7814B06E4D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6150" y="2796363"/>
            <a:ext cx="8048846" cy="3359281"/>
          </a:xfrm>
          <a:prstGeom prst="rect">
            <a:avLst/>
          </a:prstGeom>
        </p:spPr>
      </p:pic>
    </p:spTree>
    <p:extLst>
      <p:ext uri="{BB962C8B-B14F-4D97-AF65-F5344CB8AC3E}">
        <p14:creationId xmlns:p14="http://schemas.microsoft.com/office/powerpoint/2010/main" val="2700746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7D0E0-4500-03E8-101C-DE180B93DC9C}"/>
              </a:ext>
            </a:extLst>
          </p:cNvPr>
          <p:cNvSpPr>
            <a:spLocks noGrp="1"/>
          </p:cNvSpPr>
          <p:nvPr>
            <p:ph type="title"/>
          </p:nvPr>
        </p:nvSpPr>
        <p:spPr/>
        <p:txBody>
          <a:bodyPr/>
          <a:lstStyle/>
          <a:p>
            <a:r>
              <a:rPr lang="en-IN" dirty="0"/>
              <a:t>K Neighbour Classifier</a:t>
            </a:r>
          </a:p>
        </p:txBody>
      </p:sp>
      <p:sp>
        <p:nvSpPr>
          <p:cNvPr id="3" name="Content Placeholder 2">
            <a:extLst>
              <a:ext uri="{FF2B5EF4-FFF2-40B4-BE49-F238E27FC236}">
                <a16:creationId xmlns:a16="http://schemas.microsoft.com/office/drawing/2014/main" id="{F912506D-F836-D19E-91F7-42CAFC55319C}"/>
              </a:ext>
            </a:extLst>
          </p:cNvPr>
          <p:cNvSpPr>
            <a:spLocks noGrp="1"/>
          </p:cNvSpPr>
          <p:nvPr>
            <p:ph idx="1"/>
          </p:nvPr>
        </p:nvSpPr>
        <p:spPr/>
        <p:txBody>
          <a:bodyPr/>
          <a:lstStyle/>
          <a:p>
            <a:pPr marL="1143000" lvl="2" indent="-228600">
              <a:buFont typeface="Arial" panose="020B0604020202020204" pitchFamily="34" charset="0"/>
              <a:buChar char="•"/>
            </a:pPr>
            <a:r>
              <a:rPr lang="en-US" sz="2400" b="1" dirty="0">
                <a:latin typeface="Arial" panose="020B0604020202020204" pitchFamily="34" charset="0"/>
                <a:cs typeface="Arial" panose="020B0604020202020204" pitchFamily="34" charset="0"/>
              </a:rPr>
              <a:t>Accuracy:</a:t>
            </a:r>
            <a:r>
              <a:rPr lang="en-US" sz="2400" dirty="0">
                <a:latin typeface="Arial" panose="020B0604020202020204" pitchFamily="34" charset="0"/>
                <a:cs typeface="Arial" panose="020B0604020202020204" pitchFamily="34" charset="0"/>
              </a:rPr>
              <a:t> Achieved 80% accuracy.</a:t>
            </a:r>
          </a:p>
        </p:txBody>
      </p:sp>
      <p:pic>
        <p:nvPicPr>
          <p:cNvPr id="5" name="Picture 4">
            <a:extLst>
              <a:ext uri="{FF2B5EF4-FFF2-40B4-BE49-F238E27FC236}">
                <a16:creationId xmlns:a16="http://schemas.microsoft.com/office/drawing/2014/main" id="{255BA52C-6A7F-C0A3-7C1F-4F71A9E3FD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5758" y="3443119"/>
            <a:ext cx="7304568" cy="2796363"/>
          </a:xfrm>
          <a:prstGeom prst="rect">
            <a:avLst/>
          </a:prstGeom>
        </p:spPr>
      </p:pic>
    </p:spTree>
    <p:extLst>
      <p:ext uri="{BB962C8B-B14F-4D97-AF65-F5344CB8AC3E}">
        <p14:creationId xmlns:p14="http://schemas.microsoft.com/office/powerpoint/2010/main" val="3845575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86EDD-DC59-92BB-C0A7-F388F47BBE62}"/>
              </a:ext>
            </a:extLst>
          </p:cNvPr>
          <p:cNvSpPr>
            <a:spLocks noGrp="1"/>
          </p:cNvSpPr>
          <p:nvPr>
            <p:ph type="title"/>
          </p:nvPr>
        </p:nvSpPr>
        <p:spPr>
          <a:xfrm>
            <a:off x="1828800" y="0"/>
            <a:ext cx="8534400" cy="1507067"/>
          </a:xfrm>
        </p:spPr>
        <p:txBody>
          <a:bodyPr>
            <a:normAutofit/>
          </a:bodyPr>
          <a:lstStyle/>
          <a:p>
            <a:pPr algn="ctr"/>
            <a:r>
              <a:rPr lang="en-IN" sz="4400" b="1" dirty="0"/>
              <a:t>Result comparison</a:t>
            </a:r>
          </a:p>
        </p:txBody>
      </p:sp>
      <p:sp>
        <p:nvSpPr>
          <p:cNvPr id="6" name="TextBox 5">
            <a:extLst>
              <a:ext uri="{FF2B5EF4-FFF2-40B4-BE49-F238E27FC236}">
                <a16:creationId xmlns:a16="http://schemas.microsoft.com/office/drawing/2014/main" id="{014ADD46-8734-2EE6-F1B0-505381E15A0D}"/>
              </a:ext>
            </a:extLst>
          </p:cNvPr>
          <p:cNvSpPr txBox="1"/>
          <p:nvPr/>
        </p:nvSpPr>
        <p:spPr>
          <a:xfrm>
            <a:off x="999241" y="1507067"/>
            <a:ext cx="10812545" cy="1569660"/>
          </a:xfrm>
          <a:prstGeom prst="rect">
            <a:avLst/>
          </a:prstGeom>
          <a:noFill/>
        </p:spPr>
        <p:txBody>
          <a:bodyPr wrap="square">
            <a:spAutoFit/>
          </a:bodyPr>
          <a:lstStyle/>
          <a:p>
            <a:pPr>
              <a:buFont typeface="Arial" panose="020B0604020202020204" pitchFamily="34" charset="0"/>
              <a:buChar char="•"/>
            </a:pPr>
            <a:r>
              <a:rPr lang="en-US" sz="2400" b="1" dirty="0">
                <a:latin typeface="Arial" panose="020B0604020202020204" pitchFamily="34" charset="0"/>
                <a:cs typeface="Arial" panose="020B0604020202020204" pitchFamily="34" charset="0"/>
              </a:rPr>
              <a:t>Model Comparison:</a:t>
            </a:r>
            <a:r>
              <a:rPr lang="en-US" sz="2400" dirty="0">
                <a:latin typeface="Arial" panose="020B0604020202020204" pitchFamily="34" charset="0"/>
                <a:cs typeface="Arial" panose="020B0604020202020204" pitchFamily="34" charset="0"/>
              </a:rPr>
              <a:t> Accuracy, Precision, Recall for all Four models.</a:t>
            </a:r>
          </a:p>
          <a:p>
            <a:pPr>
              <a:buFont typeface="Arial" panose="020B0604020202020204" pitchFamily="34" charset="0"/>
              <a:buChar char="•"/>
            </a:pPr>
            <a:r>
              <a:rPr lang="en-US" sz="2400" b="1" dirty="0">
                <a:latin typeface="Arial" panose="020B0604020202020204" pitchFamily="34" charset="0"/>
                <a:cs typeface="Arial" panose="020B0604020202020204" pitchFamily="34" charset="0"/>
              </a:rPr>
              <a:t>Best Model:</a:t>
            </a:r>
            <a:r>
              <a:rPr lang="en-US" sz="2400" dirty="0">
                <a:latin typeface="Arial" panose="020B0604020202020204" pitchFamily="34" charset="0"/>
                <a:cs typeface="Arial" panose="020B0604020202020204" pitchFamily="34" charset="0"/>
              </a:rPr>
              <a:t> Logistic Regression and Random Forest with 84.41% accuracy.</a:t>
            </a:r>
          </a:p>
          <a:p>
            <a:pPr>
              <a:buFont typeface="Arial" panose="020B0604020202020204" pitchFamily="34" charset="0"/>
              <a:buChar char="•"/>
            </a:pPr>
            <a:r>
              <a:rPr lang="en-US" sz="2400" b="1" dirty="0">
                <a:latin typeface="Arial" panose="020B0604020202020204" pitchFamily="34" charset="0"/>
                <a:cs typeface="Arial" panose="020B0604020202020204" pitchFamily="34" charset="0"/>
              </a:rPr>
              <a:t>Conclusion:</a:t>
            </a:r>
            <a:r>
              <a:rPr lang="en-US" sz="2400" dirty="0">
                <a:latin typeface="Arial" panose="020B0604020202020204" pitchFamily="34" charset="0"/>
                <a:cs typeface="Arial" panose="020B0604020202020204" pitchFamily="34" charset="0"/>
              </a:rPr>
              <a:t> Logistic Regression and Random Forest is the most reliable model for predicting loan approval.</a:t>
            </a:r>
          </a:p>
        </p:txBody>
      </p:sp>
      <p:pic>
        <p:nvPicPr>
          <p:cNvPr id="3" name="Picture 2">
            <a:extLst>
              <a:ext uri="{FF2B5EF4-FFF2-40B4-BE49-F238E27FC236}">
                <a16:creationId xmlns:a16="http://schemas.microsoft.com/office/drawing/2014/main" id="{C695F305-4865-425B-4237-578F44F7EF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7870" y="3429000"/>
            <a:ext cx="5645888" cy="2610292"/>
          </a:xfrm>
          <a:prstGeom prst="rect">
            <a:avLst/>
          </a:prstGeom>
        </p:spPr>
      </p:pic>
    </p:spTree>
    <p:extLst>
      <p:ext uri="{BB962C8B-B14F-4D97-AF65-F5344CB8AC3E}">
        <p14:creationId xmlns:p14="http://schemas.microsoft.com/office/powerpoint/2010/main" val="2046139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857B5-C462-3099-20E8-FC05B3D1FF4A}"/>
              </a:ext>
            </a:extLst>
          </p:cNvPr>
          <p:cNvSpPr>
            <a:spLocks noGrp="1"/>
          </p:cNvSpPr>
          <p:nvPr>
            <p:ph type="title"/>
          </p:nvPr>
        </p:nvSpPr>
        <p:spPr>
          <a:xfrm>
            <a:off x="1828800" y="0"/>
            <a:ext cx="8534400" cy="1507067"/>
          </a:xfrm>
        </p:spPr>
        <p:txBody>
          <a:bodyPr>
            <a:normAutofit/>
          </a:bodyPr>
          <a:lstStyle/>
          <a:p>
            <a:pPr algn="ctr"/>
            <a:r>
              <a:rPr lang="en-IN" sz="4400" b="1" dirty="0">
                <a:latin typeface="Arial" panose="020B0604020202020204" pitchFamily="34" charset="0"/>
                <a:cs typeface="Arial" panose="020B0604020202020204" pitchFamily="34" charset="0"/>
              </a:rPr>
              <a:t>conclusion</a:t>
            </a:r>
          </a:p>
        </p:txBody>
      </p:sp>
      <p:sp>
        <p:nvSpPr>
          <p:cNvPr id="3" name="Rectangle 1">
            <a:extLst>
              <a:ext uri="{FF2B5EF4-FFF2-40B4-BE49-F238E27FC236}">
                <a16:creationId xmlns:a16="http://schemas.microsoft.com/office/drawing/2014/main" id="{A525F375-3F7A-45B5-B95B-1429E9489C52}"/>
              </a:ext>
            </a:extLst>
          </p:cNvPr>
          <p:cNvSpPr>
            <a:spLocks noChangeArrowheads="1"/>
          </p:cNvSpPr>
          <p:nvPr/>
        </p:nvSpPr>
        <p:spPr bwMode="auto">
          <a:xfrm>
            <a:off x="462116" y="1322401"/>
            <a:ext cx="990108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endParaRPr lang="en-US" altLang="en-US" sz="2400" dirty="0">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This project highlights the importance of preprocessing, model selection, and evaluation in achieving accurate predictions.</a:t>
            </a:r>
          </a:p>
          <a:p>
            <a:pPr lvl="0" defTabSz="914400" eaLnBrk="0" fontAlgn="base" hangingPunct="0">
              <a:spcBef>
                <a:spcPct val="0"/>
              </a:spcBef>
              <a:spcAft>
                <a:spcPct val="0"/>
              </a:spcAft>
              <a:buFontTx/>
              <a:buChar char="•"/>
            </a:pPr>
            <a:endParaRPr lang="en-US" altLang="en-US" sz="2400" dirty="0">
              <a:latin typeface="Arial" panose="020B0604020202020204" pitchFamily="34" charset="0"/>
            </a:endParaRPr>
          </a:p>
          <a:p>
            <a:pPr lvl="0" defTabSz="914400" eaLnBrk="0" fontAlgn="base" hangingPunct="0">
              <a:spcBef>
                <a:spcPct val="0"/>
              </a:spcBef>
              <a:spcAft>
                <a:spcPct val="0"/>
              </a:spcAft>
              <a:buFontTx/>
              <a:buChar char="•"/>
            </a:pPr>
            <a:r>
              <a:rPr lang="en-US" altLang="en-US" sz="2400" dirty="0">
                <a:latin typeface="Arial" panose="020B0604020202020204" pitchFamily="34" charset="0"/>
              </a:rPr>
              <a:t>Logistic Regression and  Random Forest are recommended as the best model for loan approval prediction due to their consistent performance across all metrics. </a:t>
            </a:r>
          </a:p>
        </p:txBody>
      </p:sp>
    </p:spTree>
    <p:extLst>
      <p:ext uri="{BB962C8B-B14F-4D97-AF65-F5344CB8AC3E}">
        <p14:creationId xmlns:p14="http://schemas.microsoft.com/office/powerpoint/2010/main" val="3082594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C1CD8-B7AB-220E-C4A4-B4FD5A91C8FA}"/>
              </a:ext>
            </a:extLst>
          </p:cNvPr>
          <p:cNvSpPr>
            <a:spLocks noGrp="1"/>
          </p:cNvSpPr>
          <p:nvPr>
            <p:ph type="title"/>
          </p:nvPr>
        </p:nvSpPr>
        <p:spPr>
          <a:xfrm>
            <a:off x="2663841" y="2234326"/>
            <a:ext cx="8534400" cy="1507067"/>
          </a:xfrm>
        </p:spPr>
        <p:txBody>
          <a:bodyPr>
            <a:normAutofit/>
          </a:bodyPr>
          <a:lstStyle/>
          <a:p>
            <a:r>
              <a:rPr lang="en-IN" sz="8000" b="1" u="sng" dirty="0"/>
              <a:t>Thank you</a:t>
            </a:r>
          </a:p>
        </p:txBody>
      </p:sp>
    </p:spTree>
    <p:extLst>
      <p:ext uri="{BB962C8B-B14F-4D97-AF65-F5344CB8AC3E}">
        <p14:creationId xmlns:p14="http://schemas.microsoft.com/office/powerpoint/2010/main" val="20809952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639</TotalTime>
  <Words>694</Words>
  <Application>Microsoft Office PowerPoint</Application>
  <PresentationFormat>Widescreen</PresentationFormat>
  <Paragraphs>67</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Helvetica Neue</vt:lpstr>
      <vt:lpstr>Nobile</vt:lpstr>
      <vt:lpstr>Tw Cen MT</vt:lpstr>
      <vt:lpstr>Circuit</vt:lpstr>
      <vt:lpstr>PowerPoint Presentation</vt:lpstr>
      <vt:lpstr>PowerPoint Presentation</vt:lpstr>
      <vt:lpstr>OBJECTIVE</vt:lpstr>
      <vt:lpstr>                           Methodology</vt:lpstr>
      <vt:lpstr>Dataset overview</vt:lpstr>
      <vt:lpstr>TECHNOLOGY USED</vt:lpstr>
      <vt:lpstr>Data visualization </vt:lpstr>
      <vt:lpstr>Overall loan distribution</vt:lpstr>
      <vt:lpstr>Data preprocessing</vt:lpstr>
      <vt:lpstr>Model training and evaluation </vt:lpstr>
      <vt:lpstr>PowerPoint Presentation</vt:lpstr>
      <vt:lpstr>PowerPoint Presentation</vt:lpstr>
      <vt:lpstr>K Neighbour Classifier</vt:lpstr>
      <vt:lpstr>Result comparison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TWJ IT Department</dc:creator>
  <cp:lastModifiedBy>Eklavya Yaadav</cp:lastModifiedBy>
  <cp:revision>15</cp:revision>
  <dcterms:created xsi:type="dcterms:W3CDTF">2024-08-30T06:58:05Z</dcterms:created>
  <dcterms:modified xsi:type="dcterms:W3CDTF">2024-09-03T11:17:13Z</dcterms:modified>
</cp:coreProperties>
</file>