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2" r:id="rId1"/>
  </p:sldMasterIdLst>
  <p:sldIdLst>
    <p:sldId id="271" r:id="rId2"/>
    <p:sldId id="257" r:id="rId3"/>
    <p:sldId id="258" r:id="rId4"/>
    <p:sldId id="260" r:id="rId5"/>
    <p:sldId id="263" r:id="rId6"/>
    <p:sldId id="264" r:id="rId7"/>
    <p:sldId id="265" r:id="rId8"/>
    <p:sldId id="267" r:id="rId9"/>
    <p:sldId id="269" r:id="rId10"/>
    <p:sldId id="270"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60" d="100"/>
          <a:sy n="60" d="100"/>
        </p:scale>
        <p:origin x="872"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DB4B1F7C-7375-466B-8FBE-D524FCA142EB}" type="datetimeFigureOut">
              <a:rPr lang="en-IN" smtClean="0"/>
              <a:t>03-09-2024</a:t>
            </a:fld>
            <a:endParaRPr lang="en-IN"/>
          </a:p>
        </p:txBody>
      </p:sp>
      <p:sp>
        <p:nvSpPr>
          <p:cNvPr id="5" name="Footer Placeholder 4"/>
          <p:cNvSpPr>
            <a:spLocks noGrp="1"/>
          </p:cNvSpPr>
          <p:nvPr>
            <p:ph type="ftr" sz="quarter" idx="11"/>
          </p:nvPr>
        </p:nvSpPr>
        <p:spPr>
          <a:xfrm>
            <a:off x="1876424" y="5410201"/>
            <a:ext cx="5124886" cy="365125"/>
          </a:xfrm>
        </p:spPr>
        <p:txBody>
          <a:bodyPr/>
          <a:lstStyle/>
          <a:p>
            <a:endParaRPr lang="en-IN"/>
          </a:p>
        </p:txBody>
      </p:sp>
      <p:sp>
        <p:nvSpPr>
          <p:cNvPr id="6" name="Slide Number Placeholder 5"/>
          <p:cNvSpPr>
            <a:spLocks noGrp="1"/>
          </p:cNvSpPr>
          <p:nvPr>
            <p:ph type="sldNum" sz="quarter" idx="12"/>
          </p:nvPr>
        </p:nvSpPr>
        <p:spPr>
          <a:xfrm>
            <a:off x="9896911" y="5410199"/>
            <a:ext cx="771089" cy="365125"/>
          </a:xfrm>
        </p:spPr>
        <p:txBody>
          <a:bodyPr/>
          <a:lstStyle/>
          <a:p>
            <a:fld id="{508A240D-40E0-4E13-A749-0C006A733E88}" type="slidenum">
              <a:rPr lang="en-IN" smtClean="0"/>
              <a:t>‹#›</a:t>
            </a:fld>
            <a:endParaRPr lang="en-IN"/>
          </a:p>
        </p:txBody>
      </p:sp>
    </p:spTree>
    <p:extLst>
      <p:ext uri="{BB962C8B-B14F-4D97-AF65-F5344CB8AC3E}">
        <p14:creationId xmlns:p14="http://schemas.microsoft.com/office/powerpoint/2010/main" val="12566412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B4B1F7C-7375-466B-8FBE-D524FCA142EB}" type="datetimeFigureOut">
              <a:rPr lang="en-IN" smtClean="0"/>
              <a:t>03-09-2024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08A240D-40E0-4E13-A749-0C006A733E88}" type="slidenum">
              <a:rPr lang="en-IN" smtClean="0"/>
              <a:t>‹#›</a:t>
            </a:fld>
            <a:endParaRPr lang="en-IN"/>
          </a:p>
        </p:txBody>
      </p:sp>
    </p:spTree>
    <p:extLst>
      <p:ext uri="{BB962C8B-B14F-4D97-AF65-F5344CB8AC3E}">
        <p14:creationId xmlns:p14="http://schemas.microsoft.com/office/powerpoint/2010/main" val="19151008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B4B1F7C-7375-466B-8FBE-D524FCA142EB}" type="datetimeFigureOut">
              <a:rPr lang="en-IN" smtClean="0"/>
              <a:t>03-09-2024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08A240D-40E0-4E13-A749-0C006A733E88}" type="slidenum">
              <a:rPr lang="en-IN" smtClean="0"/>
              <a:t>‹#›</a:t>
            </a:fld>
            <a:endParaRPr lang="en-IN"/>
          </a:p>
        </p:txBody>
      </p:sp>
    </p:spTree>
    <p:extLst>
      <p:ext uri="{BB962C8B-B14F-4D97-AF65-F5344CB8AC3E}">
        <p14:creationId xmlns:p14="http://schemas.microsoft.com/office/powerpoint/2010/main" val="36192146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B4B1F7C-7375-466B-8FBE-D524FCA142EB}" type="datetimeFigureOut">
              <a:rPr lang="en-IN" smtClean="0"/>
              <a:t>03-09-2024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08A240D-40E0-4E13-A749-0C006A733E88}" type="slidenum">
              <a:rPr lang="en-IN" smtClean="0"/>
              <a:t>‹#›</a:t>
            </a:fld>
            <a:endParaRPr lang="en-IN"/>
          </a:p>
        </p:txBody>
      </p:sp>
    </p:spTree>
    <p:extLst>
      <p:ext uri="{BB962C8B-B14F-4D97-AF65-F5344CB8AC3E}">
        <p14:creationId xmlns:p14="http://schemas.microsoft.com/office/powerpoint/2010/main" val="11650173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B4B1F7C-7375-466B-8FBE-D524FCA142EB}" type="datetimeFigureOut">
              <a:rPr lang="en-IN" smtClean="0"/>
              <a:t>03-09-2024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08A240D-40E0-4E13-A749-0C006A733E88}" type="slidenum">
              <a:rPr lang="en-IN" smtClean="0"/>
              <a:t>‹#›</a:t>
            </a:fld>
            <a:endParaRPr lang="en-IN"/>
          </a:p>
        </p:txBody>
      </p:sp>
    </p:spTree>
    <p:extLst>
      <p:ext uri="{BB962C8B-B14F-4D97-AF65-F5344CB8AC3E}">
        <p14:creationId xmlns:p14="http://schemas.microsoft.com/office/powerpoint/2010/main" val="6207040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B4B1F7C-7375-466B-8FBE-D524FCA142EB}" type="datetimeFigureOut">
              <a:rPr lang="en-IN" smtClean="0"/>
              <a:t>03-09-2024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08A240D-40E0-4E13-A749-0C006A733E88}" type="slidenum">
              <a:rPr lang="en-IN" smtClean="0"/>
              <a:t>‹#›</a:t>
            </a:fld>
            <a:endParaRPr lang="en-IN"/>
          </a:p>
        </p:txBody>
      </p:sp>
    </p:spTree>
    <p:extLst>
      <p:ext uri="{BB962C8B-B14F-4D97-AF65-F5344CB8AC3E}">
        <p14:creationId xmlns:p14="http://schemas.microsoft.com/office/powerpoint/2010/main" val="8172648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B4B1F7C-7375-466B-8FBE-D524FCA142EB}" type="datetimeFigureOut">
              <a:rPr lang="en-IN" smtClean="0"/>
              <a:t>03-09-2024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08A240D-40E0-4E13-A749-0C006A733E88}" type="slidenum">
              <a:rPr lang="en-IN" smtClean="0"/>
              <a:t>‹#›</a:t>
            </a:fld>
            <a:endParaRPr lang="en-IN"/>
          </a:p>
        </p:txBody>
      </p:sp>
    </p:spTree>
    <p:extLst>
      <p:ext uri="{BB962C8B-B14F-4D97-AF65-F5344CB8AC3E}">
        <p14:creationId xmlns:p14="http://schemas.microsoft.com/office/powerpoint/2010/main" val="28271114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B4B1F7C-7375-466B-8FBE-D524FCA142EB}" type="datetimeFigureOut">
              <a:rPr lang="en-IN" smtClean="0"/>
              <a:t>03-09-2024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08A240D-40E0-4E13-A749-0C006A733E88}" type="slidenum">
              <a:rPr lang="en-IN" smtClean="0"/>
              <a:t>‹#›</a:t>
            </a:fld>
            <a:endParaRPr lang="en-IN"/>
          </a:p>
        </p:txBody>
      </p:sp>
    </p:spTree>
    <p:extLst>
      <p:ext uri="{BB962C8B-B14F-4D97-AF65-F5344CB8AC3E}">
        <p14:creationId xmlns:p14="http://schemas.microsoft.com/office/powerpoint/2010/main" val="32982637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B4B1F7C-7375-466B-8FBE-D524FCA142EB}" type="datetimeFigureOut">
              <a:rPr lang="en-IN" smtClean="0"/>
              <a:t>03-09-2024</a:t>
            </a:fld>
            <a:endParaRPr lang="en-IN"/>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08A240D-40E0-4E13-A749-0C006A733E88}" type="slidenum">
              <a:rPr lang="en-IN" smtClean="0"/>
              <a:t>‹#›</a:t>
            </a:fld>
            <a:endParaRPr lang="en-IN"/>
          </a:p>
        </p:txBody>
      </p:sp>
    </p:spTree>
    <p:extLst>
      <p:ext uri="{BB962C8B-B14F-4D97-AF65-F5344CB8AC3E}">
        <p14:creationId xmlns:p14="http://schemas.microsoft.com/office/powerpoint/2010/main" val="18447045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B4B1F7C-7375-466B-8FBE-D524FCA142EB}" type="datetimeFigureOut">
              <a:rPr lang="en-IN" smtClean="0"/>
              <a:t>03-09-2024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08A240D-40E0-4E13-A749-0C006A733E88}" type="slidenum">
              <a:rPr lang="en-IN" smtClean="0"/>
              <a:t>‹#›</a:t>
            </a:fld>
            <a:endParaRPr lang="en-IN"/>
          </a:p>
        </p:txBody>
      </p:sp>
    </p:spTree>
    <p:extLst>
      <p:ext uri="{BB962C8B-B14F-4D97-AF65-F5344CB8AC3E}">
        <p14:creationId xmlns:p14="http://schemas.microsoft.com/office/powerpoint/2010/main" val="16196784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B4B1F7C-7375-466B-8FBE-D524FCA142EB}" type="datetimeFigureOut">
              <a:rPr lang="en-IN" smtClean="0"/>
              <a:t>03-09-2024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08A240D-40E0-4E13-A749-0C006A733E88}" type="slidenum">
              <a:rPr lang="en-IN" smtClean="0"/>
              <a:t>‹#›</a:t>
            </a:fld>
            <a:endParaRPr lang="en-IN"/>
          </a:p>
        </p:txBody>
      </p:sp>
    </p:spTree>
    <p:extLst>
      <p:ext uri="{BB962C8B-B14F-4D97-AF65-F5344CB8AC3E}">
        <p14:creationId xmlns:p14="http://schemas.microsoft.com/office/powerpoint/2010/main" val="16129457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B4B1F7C-7375-466B-8FBE-D524FCA142EB}" type="datetimeFigureOut">
              <a:rPr lang="en-IN" smtClean="0"/>
              <a:t>03-09-2024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08A240D-40E0-4E13-A749-0C006A733E88}" type="slidenum">
              <a:rPr lang="en-IN" smtClean="0"/>
              <a:t>‹#›</a:t>
            </a:fld>
            <a:endParaRPr lang="en-IN"/>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6314241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B4B1F7C-7375-466B-8FBE-D524FCA142EB}" type="datetimeFigureOut">
              <a:rPr lang="en-IN" smtClean="0"/>
              <a:t>03-09-2024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08A240D-40E0-4E13-A749-0C006A733E88}" type="slidenum">
              <a:rPr lang="en-IN" smtClean="0"/>
              <a:t>‹#›</a:t>
            </a:fld>
            <a:endParaRPr lang="en-IN"/>
          </a:p>
        </p:txBody>
      </p:sp>
    </p:spTree>
    <p:extLst>
      <p:ext uri="{BB962C8B-B14F-4D97-AF65-F5344CB8AC3E}">
        <p14:creationId xmlns:p14="http://schemas.microsoft.com/office/powerpoint/2010/main" val="15846601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B4B1F7C-7375-466B-8FBE-D524FCA142EB}" type="datetimeFigureOut">
              <a:rPr lang="en-IN" smtClean="0"/>
              <a:t>03-09-2024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08A240D-40E0-4E13-A749-0C006A733E88}" type="slidenum">
              <a:rPr lang="en-IN" smtClean="0"/>
              <a:t>‹#›</a:t>
            </a:fld>
            <a:endParaRPr lang="en-IN"/>
          </a:p>
        </p:txBody>
      </p:sp>
    </p:spTree>
    <p:extLst>
      <p:ext uri="{BB962C8B-B14F-4D97-AF65-F5344CB8AC3E}">
        <p14:creationId xmlns:p14="http://schemas.microsoft.com/office/powerpoint/2010/main" val="39683491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B4B1F7C-7375-466B-8FBE-D524FCA142EB}" type="datetimeFigureOut">
              <a:rPr lang="en-IN" smtClean="0"/>
              <a:t>03-09-2024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08A240D-40E0-4E13-A749-0C006A733E88}" type="slidenum">
              <a:rPr lang="en-IN" smtClean="0"/>
              <a:t>‹#›</a:t>
            </a:fld>
            <a:endParaRPr lang="en-IN"/>
          </a:p>
        </p:txBody>
      </p:sp>
    </p:spTree>
    <p:extLst>
      <p:ext uri="{BB962C8B-B14F-4D97-AF65-F5344CB8AC3E}">
        <p14:creationId xmlns:p14="http://schemas.microsoft.com/office/powerpoint/2010/main" val="40823679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B4B1F7C-7375-466B-8FBE-D524FCA142EB}" type="datetimeFigureOut">
              <a:rPr lang="en-IN" smtClean="0"/>
              <a:t>03-09-2024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08A240D-40E0-4E13-A749-0C006A733E88}" type="slidenum">
              <a:rPr lang="en-IN" smtClean="0"/>
              <a:t>‹#›</a:t>
            </a:fld>
            <a:endParaRPr lang="en-IN"/>
          </a:p>
        </p:txBody>
      </p:sp>
    </p:spTree>
    <p:extLst>
      <p:ext uri="{BB962C8B-B14F-4D97-AF65-F5344CB8AC3E}">
        <p14:creationId xmlns:p14="http://schemas.microsoft.com/office/powerpoint/2010/main" val="40457749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B4B1F7C-7375-466B-8FBE-D524FCA142EB}" type="datetimeFigureOut">
              <a:rPr lang="en-IN" smtClean="0"/>
              <a:t>03-09-2024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08A240D-40E0-4E13-A749-0C006A733E88}" type="slidenum">
              <a:rPr lang="en-IN" smtClean="0"/>
              <a:t>‹#›</a:t>
            </a:fld>
            <a:endParaRPr lang="en-IN"/>
          </a:p>
        </p:txBody>
      </p:sp>
    </p:spTree>
    <p:extLst>
      <p:ext uri="{BB962C8B-B14F-4D97-AF65-F5344CB8AC3E}">
        <p14:creationId xmlns:p14="http://schemas.microsoft.com/office/powerpoint/2010/main" val="29052080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DB4B1F7C-7375-466B-8FBE-D524FCA142EB}" type="datetimeFigureOut">
              <a:rPr lang="en-IN" smtClean="0"/>
              <a:t>03-09-2024</a:t>
            </a:fld>
            <a:endParaRPr lang="en-IN"/>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08A240D-40E0-4E13-A749-0C006A733E88}" type="slidenum">
              <a:rPr lang="en-IN" smtClean="0"/>
              <a:t>‹#›</a:t>
            </a:fld>
            <a:endParaRPr lang="en-IN"/>
          </a:p>
        </p:txBody>
      </p:sp>
    </p:spTree>
    <p:extLst>
      <p:ext uri="{BB962C8B-B14F-4D97-AF65-F5344CB8AC3E}">
        <p14:creationId xmlns:p14="http://schemas.microsoft.com/office/powerpoint/2010/main" val="3321275317"/>
      </p:ext>
    </p:extLst>
  </p:cSld>
  <p:clrMap bg1="dk1" tx1="lt1" bg2="dk2" tx2="lt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 id="2147483716" r:id="rId14"/>
    <p:sldLayoutId id="2147483717" r:id="rId15"/>
    <p:sldLayoutId id="2147483718" r:id="rId16"/>
    <p:sldLayoutId id="214748371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840E5-C7B6-4D55-4264-7584D052F60F}"/>
              </a:ext>
            </a:extLst>
          </p:cNvPr>
          <p:cNvSpPr>
            <a:spLocks noGrp="1"/>
          </p:cNvSpPr>
          <p:nvPr>
            <p:ph type="ctrTitle"/>
          </p:nvPr>
        </p:nvSpPr>
        <p:spPr>
          <a:xfrm>
            <a:off x="2525010" y="80373"/>
            <a:ext cx="8791575" cy="2387600"/>
          </a:xfrm>
        </p:spPr>
        <p:txBody>
          <a:bodyPr/>
          <a:lstStyle/>
          <a:p>
            <a:r>
              <a:rPr lang="en-US" dirty="0" err="1"/>
              <a:t>JaPAN</a:t>
            </a:r>
            <a:r>
              <a:rPr lang="en-US" dirty="0"/>
              <a:t> </a:t>
            </a:r>
            <a:r>
              <a:rPr lang="en-US" dirty="0" err="1"/>
              <a:t>USEd</a:t>
            </a:r>
            <a:r>
              <a:rPr lang="en-US" dirty="0"/>
              <a:t> cars price prediction</a:t>
            </a:r>
            <a:endParaRPr lang="en-IN" dirty="0"/>
          </a:p>
        </p:txBody>
      </p:sp>
      <p:sp>
        <p:nvSpPr>
          <p:cNvPr id="3" name="Subtitle 2">
            <a:extLst>
              <a:ext uri="{FF2B5EF4-FFF2-40B4-BE49-F238E27FC236}">
                <a16:creationId xmlns:a16="http://schemas.microsoft.com/office/drawing/2014/main" id="{13F69051-8ACF-7574-8DA1-7A1A00725C82}"/>
              </a:ext>
            </a:extLst>
          </p:cNvPr>
          <p:cNvSpPr>
            <a:spLocks noGrp="1"/>
          </p:cNvSpPr>
          <p:nvPr>
            <p:ph type="subTitle" idx="1"/>
          </p:nvPr>
        </p:nvSpPr>
        <p:spPr/>
        <p:txBody>
          <a:bodyPr>
            <a:normAutofit/>
          </a:bodyPr>
          <a:lstStyle/>
          <a:p>
            <a:r>
              <a:rPr lang="en-US" sz="2400" dirty="0">
                <a:solidFill>
                  <a:schemeClr val="bg2">
                    <a:lumMod val="50000"/>
                  </a:schemeClr>
                </a:solidFill>
              </a:rPr>
              <a:t>                                               Presented by – Eklavya Yaadav</a:t>
            </a:r>
          </a:p>
          <a:p>
            <a:r>
              <a:rPr lang="en-US" sz="2400" dirty="0">
                <a:solidFill>
                  <a:schemeClr val="bg2">
                    <a:lumMod val="50000"/>
                  </a:schemeClr>
                </a:solidFill>
              </a:rPr>
              <a:t>                                                                        (AI/ML Intern)</a:t>
            </a:r>
            <a:endParaRPr lang="en-IN" sz="2400" dirty="0">
              <a:solidFill>
                <a:schemeClr val="bg2">
                  <a:lumMod val="50000"/>
                </a:schemeClr>
              </a:solidFill>
            </a:endParaRPr>
          </a:p>
        </p:txBody>
      </p:sp>
    </p:spTree>
    <p:extLst>
      <p:ext uri="{BB962C8B-B14F-4D97-AF65-F5344CB8AC3E}">
        <p14:creationId xmlns:p14="http://schemas.microsoft.com/office/powerpoint/2010/main" val="23949798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A3571-1344-0676-7108-C984C0A885A1}"/>
              </a:ext>
            </a:extLst>
          </p:cNvPr>
          <p:cNvSpPr>
            <a:spLocks noGrp="1"/>
          </p:cNvSpPr>
          <p:nvPr>
            <p:ph type="title"/>
          </p:nvPr>
        </p:nvSpPr>
        <p:spPr>
          <a:xfrm>
            <a:off x="913795" y="609599"/>
            <a:ext cx="10353762" cy="5748867"/>
          </a:xfrm>
        </p:spPr>
        <p:txBody>
          <a:bodyPr>
            <a:normAutofit/>
          </a:bodyPr>
          <a:lstStyle/>
          <a:p>
            <a:pPr algn="l"/>
            <a:r>
              <a:rPr lang="en-US" sz="3200" b="1" dirty="0">
                <a:latin typeface="Times New Roman" panose="02020603050405020304" pitchFamily="18" charset="0"/>
                <a:cs typeface="Times New Roman" panose="02020603050405020304" pitchFamily="18" charset="0"/>
              </a:rPr>
              <a:t>CONTENT:</a:t>
            </a:r>
            <a:br>
              <a:rPr lang="en-US" sz="3200" b="1" dirty="0">
                <a:latin typeface="Times New Roman" panose="02020603050405020304" pitchFamily="18" charset="0"/>
                <a:cs typeface="Times New Roman" panose="02020603050405020304" pitchFamily="18" charset="0"/>
              </a:rPr>
            </a:br>
            <a:br>
              <a:rPr lang="en-US" sz="2000" b="1"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1. INTRODUCTION</a:t>
            </a:r>
            <a:br>
              <a:rPr lang="en-US" sz="2000" b="1" dirty="0">
                <a:latin typeface="Times New Roman" panose="02020603050405020304" pitchFamily="18" charset="0"/>
                <a:cs typeface="Times New Roman" panose="02020603050405020304" pitchFamily="18" charset="0"/>
              </a:rPr>
            </a:br>
            <a:br>
              <a:rPr lang="en-US" sz="2000" b="1"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2. DATASET OVERVIEW</a:t>
            </a:r>
            <a:br>
              <a:rPr lang="en-US" sz="2000" b="1" dirty="0">
                <a:latin typeface="Times New Roman" panose="02020603050405020304" pitchFamily="18" charset="0"/>
                <a:cs typeface="Times New Roman" panose="02020603050405020304" pitchFamily="18" charset="0"/>
              </a:rPr>
            </a:br>
            <a:br>
              <a:rPr lang="en-US" sz="2000" b="1"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3. </a:t>
            </a:r>
            <a:r>
              <a:rPr lang="en-IN" sz="2000" b="1" dirty="0">
                <a:latin typeface="Times New Roman" panose="02020603050405020304" pitchFamily="18" charset="0"/>
                <a:cs typeface="Times New Roman" panose="02020603050405020304" pitchFamily="18" charset="0"/>
              </a:rPr>
              <a:t>EXPLORATORY DATA ANALYSIS (EDA)</a:t>
            </a:r>
            <a:br>
              <a:rPr lang="en-US" sz="2000" b="1" dirty="0">
                <a:latin typeface="Times New Roman" panose="02020603050405020304" pitchFamily="18" charset="0"/>
                <a:cs typeface="Times New Roman" panose="02020603050405020304" pitchFamily="18" charset="0"/>
              </a:rPr>
            </a:br>
            <a:br>
              <a:rPr lang="en-US" sz="2000" b="1"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4. FEATURE ENGINEERING</a:t>
            </a:r>
            <a:br>
              <a:rPr lang="en-US" sz="2000" b="1" dirty="0">
                <a:latin typeface="Times New Roman" panose="02020603050405020304" pitchFamily="18" charset="0"/>
                <a:cs typeface="Times New Roman" panose="02020603050405020304" pitchFamily="18" charset="0"/>
              </a:rPr>
            </a:br>
            <a:br>
              <a:rPr lang="en-US" sz="2000" b="1"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5. MODEL APPROACH</a:t>
            </a:r>
            <a:br>
              <a:rPr lang="en-US" sz="2000" b="1" dirty="0">
                <a:latin typeface="Times New Roman" panose="02020603050405020304" pitchFamily="18" charset="0"/>
                <a:cs typeface="Times New Roman" panose="02020603050405020304" pitchFamily="18" charset="0"/>
              </a:rPr>
            </a:br>
            <a:br>
              <a:rPr lang="en-US" sz="2000" b="1"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6. MODEL EVALUATION</a:t>
            </a:r>
            <a:br>
              <a:rPr lang="en-US" sz="2000" b="1" dirty="0">
                <a:latin typeface="Times New Roman" panose="02020603050405020304" pitchFamily="18" charset="0"/>
                <a:cs typeface="Times New Roman" panose="02020603050405020304" pitchFamily="18" charset="0"/>
              </a:rPr>
            </a:br>
            <a:br>
              <a:rPr lang="en-US" sz="2000" b="1"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7. CONCLUSION</a:t>
            </a:r>
            <a:br>
              <a:rPr lang="en-US" sz="2000" b="1" dirty="0">
                <a:latin typeface="Times New Roman" panose="02020603050405020304" pitchFamily="18" charset="0"/>
                <a:cs typeface="Times New Roman" panose="02020603050405020304" pitchFamily="18" charset="0"/>
              </a:rPr>
            </a:br>
            <a:br>
              <a:rPr lang="en-US" sz="2000" b="1" dirty="0">
                <a:latin typeface="Times New Roman" panose="02020603050405020304" pitchFamily="18" charset="0"/>
                <a:cs typeface="Times New Roman" panose="02020603050405020304" pitchFamily="18" charset="0"/>
              </a:rPr>
            </a:br>
            <a:br>
              <a:rPr lang="en-US" sz="2000" b="1" dirty="0">
                <a:latin typeface="Times New Roman" panose="02020603050405020304" pitchFamily="18" charset="0"/>
                <a:cs typeface="Times New Roman" panose="02020603050405020304" pitchFamily="18" charset="0"/>
              </a:rPr>
            </a:br>
            <a:br>
              <a:rPr lang="en-US" sz="2000" b="1" dirty="0">
                <a:latin typeface="Times New Roman" panose="02020603050405020304" pitchFamily="18" charset="0"/>
                <a:cs typeface="Times New Roman" panose="02020603050405020304" pitchFamily="18" charset="0"/>
              </a:rPr>
            </a:br>
            <a:br>
              <a:rPr lang="en-US" sz="2000" b="1" dirty="0">
                <a:latin typeface="Times New Roman" panose="02020603050405020304" pitchFamily="18" charset="0"/>
                <a:cs typeface="Times New Roman" panose="02020603050405020304" pitchFamily="18" charset="0"/>
              </a:rPr>
            </a:b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225264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AB747-D9B1-BCF8-D73D-46F6D6BC1EA2}"/>
              </a:ext>
            </a:extLst>
          </p:cNvPr>
          <p:cNvSpPr>
            <a:spLocks noGrp="1"/>
          </p:cNvSpPr>
          <p:nvPr>
            <p:ph type="ctrTitle"/>
          </p:nvPr>
        </p:nvSpPr>
        <p:spPr>
          <a:xfrm>
            <a:off x="1370693" y="347133"/>
            <a:ext cx="9440034" cy="804341"/>
          </a:xfrm>
        </p:spPr>
        <p:txBody>
          <a:bodyPr>
            <a:normAutofit/>
          </a:bodyPr>
          <a:lstStyle/>
          <a:p>
            <a:r>
              <a:rPr lang="en-US" sz="3600" b="1" dirty="0">
                <a:latin typeface="Times New Roman" panose="02020603050405020304" pitchFamily="18" charset="0"/>
                <a:cs typeface="Times New Roman" panose="02020603050405020304" pitchFamily="18" charset="0"/>
              </a:rPr>
              <a:t>INTRODUCTION</a:t>
            </a:r>
            <a:endParaRPr lang="en-IN" sz="36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741A733D-78B7-55EC-DAC6-249C58C74654}"/>
              </a:ext>
            </a:extLst>
          </p:cNvPr>
          <p:cNvSpPr>
            <a:spLocks noGrp="1"/>
          </p:cNvSpPr>
          <p:nvPr>
            <p:ph type="subTitle" idx="1"/>
          </p:nvPr>
        </p:nvSpPr>
        <p:spPr>
          <a:xfrm>
            <a:off x="1370693" y="1710273"/>
            <a:ext cx="9440034" cy="4800594"/>
          </a:xfrm>
        </p:spPr>
        <p:txBody>
          <a:bodyPr>
            <a:normAutofit/>
          </a:bodyPr>
          <a:lstStyle/>
          <a:p>
            <a:pPr marL="342900" indent="-342900" algn="l">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The global rise in used car transactions, particularly in Japan, highlights the need to understand price determinants like brand, model, condition, mileage, and additional features.</a:t>
            </a:r>
          </a:p>
          <a:p>
            <a:pPr marL="342900" indent="-342900" algn="l">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algn="l"/>
            <a:endParaRPr lang="en-US" dirty="0">
              <a:latin typeface="Times New Roman" panose="02020603050405020304" pitchFamily="18" charset="0"/>
              <a:cs typeface="Times New Roman" panose="02020603050405020304" pitchFamily="18" charset="0"/>
            </a:endParaRPr>
          </a:p>
          <a:p>
            <a:pPr marL="342900" indent="-342900" algn="l">
              <a:buFont typeface="Arial" panose="020B0604020202020204" pitchFamily="34" charset="0"/>
              <a:buChar char="•"/>
            </a:pPr>
            <a:r>
              <a:rPr lang="en-US" dirty="0">
                <a:solidFill>
                  <a:schemeClr val="tx1"/>
                </a:solidFill>
              </a:rPr>
              <a:t>This study aims to predict used car prices using a dataset with ten features, including price, brand, model, registration year, mileage, engine capacity, transmission type, drive type, hand drive orientation, and fuel type.</a:t>
            </a:r>
            <a:endParaRPr lang="en-US"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253328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7DFF5-65B5-6DD7-BCE6-EF393DCE907F}"/>
              </a:ext>
            </a:extLst>
          </p:cNvPr>
          <p:cNvSpPr>
            <a:spLocks noGrp="1"/>
          </p:cNvSpPr>
          <p:nvPr>
            <p:ph type="title"/>
          </p:nvPr>
        </p:nvSpPr>
        <p:spPr>
          <a:xfrm>
            <a:off x="913795" y="296334"/>
            <a:ext cx="10434449" cy="609600"/>
          </a:xfrm>
        </p:spPr>
        <p:txBody>
          <a:bodyPr>
            <a:normAutofit/>
          </a:bodyPr>
          <a:lstStyle/>
          <a:p>
            <a:r>
              <a:rPr lang="en-US" sz="3600" b="1" dirty="0">
                <a:latin typeface="Times New Roman" panose="02020603050405020304" pitchFamily="18" charset="0"/>
                <a:cs typeface="Times New Roman" panose="02020603050405020304" pitchFamily="18" charset="0"/>
              </a:rPr>
              <a:t>DATASET</a:t>
            </a:r>
            <a:endParaRPr lang="en-IN" sz="3600" b="1" dirty="0">
              <a:latin typeface="Times New Roman" panose="02020603050405020304" pitchFamily="18" charset="0"/>
              <a:cs typeface="Times New Roman" panose="02020603050405020304" pitchFamily="18" charset="0"/>
            </a:endParaRPr>
          </a:p>
        </p:txBody>
      </p:sp>
      <p:sp>
        <p:nvSpPr>
          <p:cNvPr id="4" name="Text Placeholder 3">
            <a:extLst>
              <a:ext uri="{FF2B5EF4-FFF2-40B4-BE49-F238E27FC236}">
                <a16:creationId xmlns:a16="http://schemas.microsoft.com/office/drawing/2014/main" id="{F745352A-C8F3-4A4D-AA46-080268540D98}"/>
              </a:ext>
            </a:extLst>
          </p:cNvPr>
          <p:cNvSpPr>
            <a:spLocks noGrp="1"/>
          </p:cNvSpPr>
          <p:nvPr>
            <p:ph type="body" sz="half" idx="2"/>
          </p:nvPr>
        </p:nvSpPr>
        <p:spPr>
          <a:xfrm>
            <a:off x="913795" y="1270000"/>
            <a:ext cx="6088138" cy="4521199"/>
          </a:xfrm>
        </p:spPr>
        <p:txBody>
          <a:bodyPr>
            <a:normAutofit/>
          </a:bodyPr>
          <a:lstStyle/>
          <a:p>
            <a:pPr marL="342900" indent="-342900" algn="l">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dataset consists of 2,318 rows and 11 columns, providing detailed information on various features of used cars.</a:t>
            </a:r>
          </a:p>
          <a:p>
            <a:pPr marL="342900" indent="-342900" algn="l">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dataset includes ten key features: Price, Brand (Mark), Model, Year, Mileage, Engine Capacity, Transmission Type, Drive Type (2WD, 4WD, AWD), Hand Drive Orientation (Right, Left, Centre), and Fuel Type (Petrol, Diesel, Hybrid, LPG, CNG).</a:t>
            </a:r>
          </a:p>
          <a:p>
            <a:pPr marL="342900" indent="-342900" algn="l">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primary focus of the analysis is on predicting the car's </a:t>
            </a:r>
            <a:r>
              <a:rPr lang="en-US" sz="2000" b="1" dirty="0">
                <a:latin typeface="Times New Roman" panose="02020603050405020304" pitchFamily="18" charset="0"/>
                <a:cs typeface="Times New Roman" panose="02020603050405020304" pitchFamily="18" charset="0"/>
              </a:rPr>
              <a:t>Price</a:t>
            </a:r>
            <a:r>
              <a:rPr lang="en-US" sz="2000" dirty="0">
                <a:latin typeface="Times New Roman" panose="02020603050405020304" pitchFamily="18" charset="0"/>
                <a:cs typeface="Times New Roman" panose="02020603050405020304" pitchFamily="18" charset="0"/>
              </a:rPr>
              <a:t> based on the other features.</a:t>
            </a:r>
            <a:endParaRPr lang="en-IN" sz="1800" dirty="0">
              <a:latin typeface="Times New Roman" panose="02020603050405020304" pitchFamily="18" charset="0"/>
              <a:cs typeface="Times New Roman" panose="02020603050405020304" pitchFamily="18" charset="0"/>
            </a:endParaRPr>
          </a:p>
        </p:txBody>
      </p:sp>
      <p:pic>
        <p:nvPicPr>
          <p:cNvPr id="8" name="Content Placeholder 7">
            <a:extLst>
              <a:ext uri="{FF2B5EF4-FFF2-40B4-BE49-F238E27FC236}">
                <a16:creationId xmlns:a16="http://schemas.microsoft.com/office/drawing/2014/main" id="{1AA22FD9-7B61-85D9-72D3-0B99FAFFDF0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001933" y="744279"/>
            <a:ext cx="4672616" cy="4944139"/>
          </a:xfrm>
        </p:spPr>
      </p:pic>
    </p:spTree>
    <p:extLst>
      <p:ext uri="{BB962C8B-B14F-4D97-AF65-F5344CB8AC3E}">
        <p14:creationId xmlns:p14="http://schemas.microsoft.com/office/powerpoint/2010/main" val="15205874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CEEA2-567A-0080-46A3-DF87D27F8BAB}"/>
              </a:ext>
            </a:extLst>
          </p:cNvPr>
          <p:cNvSpPr>
            <a:spLocks noGrp="1"/>
          </p:cNvSpPr>
          <p:nvPr>
            <p:ph type="title"/>
          </p:nvPr>
        </p:nvSpPr>
        <p:spPr>
          <a:xfrm>
            <a:off x="913795" y="313267"/>
            <a:ext cx="10582880" cy="618067"/>
          </a:xfrm>
        </p:spPr>
        <p:txBody>
          <a:bodyPr>
            <a:normAutofit/>
          </a:bodyPr>
          <a:lstStyle/>
          <a:p>
            <a:r>
              <a:rPr lang="en-US" sz="3600" b="1" dirty="0">
                <a:latin typeface="Times New Roman" panose="02020603050405020304" pitchFamily="18" charset="0"/>
                <a:cs typeface="Times New Roman" panose="02020603050405020304" pitchFamily="18" charset="0"/>
              </a:rPr>
              <a:t>EXPLORATORY DATA ANALYSIS</a:t>
            </a:r>
            <a:endParaRPr lang="en-IN" sz="3600" b="1" dirty="0">
              <a:latin typeface="Times New Roman" panose="02020603050405020304" pitchFamily="18" charset="0"/>
              <a:cs typeface="Times New Roman" panose="02020603050405020304" pitchFamily="18" charset="0"/>
            </a:endParaRPr>
          </a:p>
        </p:txBody>
      </p:sp>
      <p:sp>
        <p:nvSpPr>
          <p:cNvPr id="4" name="Text Placeholder 3">
            <a:extLst>
              <a:ext uri="{FF2B5EF4-FFF2-40B4-BE49-F238E27FC236}">
                <a16:creationId xmlns:a16="http://schemas.microsoft.com/office/drawing/2014/main" id="{68F3FDC6-9A86-9E0C-2964-6BC79A791756}"/>
              </a:ext>
            </a:extLst>
          </p:cNvPr>
          <p:cNvSpPr>
            <a:spLocks noGrp="1"/>
          </p:cNvSpPr>
          <p:nvPr>
            <p:ph type="body" sz="half" idx="2"/>
          </p:nvPr>
        </p:nvSpPr>
        <p:spPr>
          <a:xfrm>
            <a:off x="913795" y="4809067"/>
            <a:ext cx="10364410" cy="982132"/>
          </a:xfrm>
        </p:spPr>
        <p:txBody>
          <a:bodyPr>
            <a:normAutofit/>
          </a:bodyPr>
          <a:lstStyle/>
          <a:p>
            <a:pPr algn="l"/>
            <a:r>
              <a:rPr lang="en-US" sz="2000" dirty="0">
                <a:latin typeface="Times New Roman" panose="02020603050405020304" pitchFamily="18" charset="0"/>
                <a:cs typeface="Times New Roman" panose="02020603050405020304" pitchFamily="18" charset="0"/>
              </a:rPr>
              <a:t>            </a:t>
            </a:r>
            <a:r>
              <a:rPr lang="en-US" sz="3200" dirty="0">
                <a:latin typeface="Times New Roman" panose="02020603050405020304" pitchFamily="18" charset="0"/>
                <a:cs typeface="Times New Roman" panose="02020603050405020304" pitchFamily="18" charset="0"/>
              </a:rPr>
              <a:t>Number of models of different Companies</a:t>
            </a:r>
            <a:endParaRPr lang="en-IN" sz="3200" dirty="0">
              <a:latin typeface="Times New Roman" panose="02020603050405020304" pitchFamily="18" charset="0"/>
              <a:cs typeface="Times New Roman" panose="02020603050405020304" pitchFamily="18" charset="0"/>
            </a:endParaRPr>
          </a:p>
        </p:txBody>
      </p:sp>
      <p:pic>
        <p:nvPicPr>
          <p:cNvPr id="8" name="Content Placeholder 7">
            <a:extLst>
              <a:ext uri="{FF2B5EF4-FFF2-40B4-BE49-F238E27FC236}">
                <a16:creationId xmlns:a16="http://schemas.microsoft.com/office/drawing/2014/main" id="{F2999D7E-CF9E-8CBD-1EF6-6BAEAC86C5F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50335" y="1373597"/>
            <a:ext cx="7378995" cy="3336626"/>
          </a:xfrm>
        </p:spPr>
      </p:pic>
    </p:spTree>
    <p:extLst>
      <p:ext uri="{BB962C8B-B14F-4D97-AF65-F5344CB8AC3E}">
        <p14:creationId xmlns:p14="http://schemas.microsoft.com/office/powerpoint/2010/main" val="28160360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5CB68C2E-87FF-0E77-5B59-79E03FB5F186}"/>
              </a:ext>
            </a:extLst>
          </p:cNvPr>
          <p:cNvSpPr>
            <a:spLocks noGrp="1"/>
          </p:cNvSpPr>
          <p:nvPr>
            <p:ph type="body" sz="half" idx="2"/>
          </p:nvPr>
        </p:nvSpPr>
        <p:spPr>
          <a:xfrm>
            <a:off x="913795" y="4969933"/>
            <a:ext cx="10321471" cy="821266"/>
          </a:xfrm>
        </p:spPr>
        <p:txBody>
          <a:bodyPr>
            <a:normAutofit/>
          </a:bodyPr>
          <a:lstStyle/>
          <a:p>
            <a:r>
              <a:rPr lang="en-US" sz="2800" dirty="0">
                <a:latin typeface="Times New Roman" panose="02020603050405020304" pitchFamily="18" charset="0"/>
                <a:cs typeface="Times New Roman" panose="02020603050405020304" pitchFamily="18" charset="0"/>
              </a:rPr>
              <a:t>Gasoline cars tend to be more compared to other fuel types.</a:t>
            </a:r>
            <a:endParaRPr lang="en-IN" sz="2800" dirty="0">
              <a:latin typeface="Times New Roman" panose="02020603050405020304" pitchFamily="18" charset="0"/>
              <a:cs typeface="Times New Roman" panose="02020603050405020304" pitchFamily="18" charset="0"/>
            </a:endParaRPr>
          </a:p>
        </p:txBody>
      </p:sp>
      <p:pic>
        <p:nvPicPr>
          <p:cNvPr id="7" name="Content Placeholder 6">
            <a:extLst>
              <a:ext uri="{FF2B5EF4-FFF2-40B4-BE49-F238E27FC236}">
                <a16:creationId xmlns:a16="http://schemas.microsoft.com/office/drawing/2014/main" id="{D6D28026-1BCF-5B21-7D14-71C1DE3109C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13795" y="180753"/>
            <a:ext cx="9601805" cy="4688959"/>
          </a:xfrm>
        </p:spPr>
      </p:pic>
    </p:spTree>
    <p:extLst>
      <p:ext uri="{BB962C8B-B14F-4D97-AF65-F5344CB8AC3E}">
        <p14:creationId xmlns:p14="http://schemas.microsoft.com/office/powerpoint/2010/main" val="27148938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9EC0C-04B7-8A95-3A5D-DC5C96FA1930}"/>
              </a:ext>
            </a:extLst>
          </p:cNvPr>
          <p:cNvSpPr>
            <a:spLocks noGrp="1"/>
          </p:cNvSpPr>
          <p:nvPr>
            <p:ph type="title"/>
          </p:nvPr>
        </p:nvSpPr>
        <p:spPr>
          <a:xfrm>
            <a:off x="2607431" y="491067"/>
            <a:ext cx="6977138" cy="880533"/>
          </a:xfrm>
        </p:spPr>
        <p:txBody>
          <a:bodyPr>
            <a:normAutofit/>
          </a:bodyPr>
          <a:lstStyle/>
          <a:p>
            <a:r>
              <a:rPr lang="en-US" sz="3600" b="1" dirty="0">
                <a:latin typeface="Times New Roman" panose="02020603050405020304" pitchFamily="18" charset="0"/>
                <a:cs typeface="Times New Roman" panose="02020603050405020304" pitchFamily="18" charset="0"/>
              </a:rPr>
              <a:t>FEATURE ENGINEERING</a:t>
            </a:r>
            <a:endParaRPr lang="en-IN" sz="3600" b="1" dirty="0">
              <a:latin typeface="Times New Roman" panose="02020603050405020304" pitchFamily="18" charset="0"/>
              <a:cs typeface="Times New Roman" panose="02020603050405020304" pitchFamily="18" charset="0"/>
            </a:endParaRPr>
          </a:p>
        </p:txBody>
      </p:sp>
      <p:pic>
        <p:nvPicPr>
          <p:cNvPr id="6" name="Content Placeholder 5">
            <a:extLst>
              <a:ext uri="{FF2B5EF4-FFF2-40B4-BE49-F238E27FC236}">
                <a16:creationId xmlns:a16="http://schemas.microsoft.com/office/drawing/2014/main" id="{965D41D3-DDB1-B2BD-1741-16E57745C7F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156200" y="1554329"/>
            <a:ext cx="5891213" cy="3274679"/>
          </a:xfrm>
        </p:spPr>
      </p:pic>
      <p:sp>
        <p:nvSpPr>
          <p:cNvPr id="4" name="Text Placeholder 3">
            <a:extLst>
              <a:ext uri="{FF2B5EF4-FFF2-40B4-BE49-F238E27FC236}">
                <a16:creationId xmlns:a16="http://schemas.microsoft.com/office/drawing/2014/main" id="{7B73A153-E703-32ED-8027-4B993F7797DB}"/>
              </a:ext>
            </a:extLst>
          </p:cNvPr>
          <p:cNvSpPr>
            <a:spLocks noGrp="1"/>
          </p:cNvSpPr>
          <p:nvPr>
            <p:ph type="body" sz="half" idx="2"/>
          </p:nvPr>
        </p:nvSpPr>
        <p:spPr/>
        <p:txBody>
          <a:bodyPr>
            <a:normAutofit/>
          </a:bodyPr>
          <a:lstStyle/>
          <a:p>
            <a:pPr algn="l"/>
            <a:r>
              <a:rPr lang="en-US" sz="2000" b="1" dirty="0">
                <a:latin typeface="Times New Roman" panose="02020603050405020304" pitchFamily="18" charset="0"/>
                <a:cs typeface="Times New Roman" panose="02020603050405020304" pitchFamily="18" charset="0"/>
              </a:rPr>
              <a:t>HANDLING CATEGORICAL VARIABLES:</a:t>
            </a:r>
          </a:p>
          <a:p>
            <a:pPr algn="l"/>
            <a:r>
              <a:rPr lang="en-US" dirty="0">
                <a:latin typeface="Times New Roman" panose="02020603050405020304" pitchFamily="18" charset="0"/>
                <a:cs typeface="Times New Roman" panose="02020603050405020304" pitchFamily="18" charset="0"/>
              </a:rPr>
              <a:t>The dataset contains several categorical features, such as Brand, Model, Transmission, Drive Type, Hand Drive, and Fuel Type. To convert these categorical features into a numerical format that machine learning models can process, we used </a:t>
            </a:r>
            <a:r>
              <a:rPr lang="en-US" b="1" dirty="0">
                <a:latin typeface="Times New Roman" panose="02020603050405020304" pitchFamily="18" charset="0"/>
                <a:cs typeface="Times New Roman" panose="02020603050405020304" pitchFamily="18" charset="0"/>
              </a:rPr>
              <a:t>Label Encoding</a:t>
            </a:r>
            <a:r>
              <a:rPr lang="en-US" dirty="0">
                <a:latin typeface="Times New Roman" panose="02020603050405020304" pitchFamily="18" charset="0"/>
                <a:cs typeface="Times New Roman" panose="02020603050405020304" pitchFamily="18" charset="0"/>
              </a:rPr>
              <a:t>.</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760745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AC2E1-48C7-CD1A-7019-D763F4A46388}"/>
              </a:ext>
            </a:extLst>
          </p:cNvPr>
          <p:cNvSpPr>
            <a:spLocks noGrp="1"/>
          </p:cNvSpPr>
          <p:nvPr>
            <p:ph type="ctrTitle"/>
          </p:nvPr>
        </p:nvSpPr>
        <p:spPr>
          <a:xfrm>
            <a:off x="1370693" y="440266"/>
            <a:ext cx="9440034" cy="584208"/>
          </a:xfrm>
        </p:spPr>
        <p:txBody>
          <a:bodyPr>
            <a:normAutofit fontScale="90000"/>
          </a:bodyPr>
          <a:lstStyle/>
          <a:p>
            <a:r>
              <a:rPr lang="en-US" sz="3600" b="1" dirty="0">
                <a:latin typeface="Times New Roman" panose="02020603050405020304" pitchFamily="18" charset="0"/>
                <a:cs typeface="Times New Roman" panose="02020603050405020304" pitchFamily="18" charset="0"/>
              </a:rPr>
              <a:t>MODEL APPROACH</a:t>
            </a:r>
            <a:endParaRPr lang="en-IN" sz="36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26A566D2-9654-C26C-BEAF-BEA8A5C9B235}"/>
              </a:ext>
            </a:extLst>
          </p:cNvPr>
          <p:cNvSpPr>
            <a:spLocks noGrp="1"/>
          </p:cNvSpPr>
          <p:nvPr>
            <p:ph type="subTitle" idx="1"/>
          </p:nvPr>
        </p:nvSpPr>
        <p:spPr>
          <a:xfrm>
            <a:off x="1105786" y="1159934"/>
            <a:ext cx="10866081" cy="4687974"/>
          </a:xfrm>
        </p:spPr>
        <p:txBody>
          <a:bodyPr>
            <a:normAutofit fontScale="85000" lnSpcReduction="20000"/>
          </a:bodyPr>
          <a:lstStyle/>
          <a:p>
            <a:pPr marL="285750" indent="-285750" algn="l">
              <a:buFont typeface="Arial" panose="020B0604020202020204" pitchFamily="34" charset="0"/>
              <a:buChar char="•"/>
            </a:pPr>
            <a:r>
              <a:rPr lang="en-US" sz="2600" dirty="0">
                <a:solidFill>
                  <a:schemeClr val="tx1"/>
                </a:solidFill>
                <a:latin typeface="Times New Roman" panose="02020603050405020304" pitchFamily="18" charset="0"/>
                <a:cs typeface="Times New Roman" panose="02020603050405020304" pitchFamily="18" charset="0"/>
              </a:rPr>
              <a:t>In this project, we explored Five different machine learning algorithms to predict the price of used cars: </a:t>
            </a:r>
            <a:r>
              <a:rPr lang="en-US" sz="2600" b="1" dirty="0">
                <a:solidFill>
                  <a:schemeClr val="tx1"/>
                </a:solidFill>
                <a:latin typeface="Times New Roman" panose="02020603050405020304" pitchFamily="18" charset="0"/>
                <a:cs typeface="Times New Roman" panose="02020603050405020304" pitchFamily="18" charset="0"/>
              </a:rPr>
              <a:t>Linear Regression</a:t>
            </a:r>
            <a:r>
              <a:rPr lang="en-US" sz="2600" dirty="0">
                <a:solidFill>
                  <a:schemeClr val="tx1"/>
                </a:solidFill>
                <a:latin typeface="Times New Roman" panose="02020603050405020304" pitchFamily="18" charset="0"/>
                <a:cs typeface="Times New Roman" panose="02020603050405020304" pitchFamily="18" charset="0"/>
              </a:rPr>
              <a:t>, </a:t>
            </a:r>
            <a:r>
              <a:rPr lang="en-US" sz="2600" b="1" dirty="0">
                <a:solidFill>
                  <a:schemeClr val="tx1"/>
                </a:solidFill>
                <a:latin typeface="Times New Roman" panose="02020603050405020304" pitchFamily="18" charset="0"/>
                <a:cs typeface="Times New Roman" panose="02020603050405020304" pitchFamily="18" charset="0"/>
              </a:rPr>
              <a:t>Decision Tree Regressor</a:t>
            </a:r>
            <a:r>
              <a:rPr lang="en-US" sz="2600" dirty="0">
                <a:solidFill>
                  <a:schemeClr val="tx1"/>
                </a:solidFill>
                <a:latin typeface="Times New Roman" panose="02020603050405020304" pitchFamily="18" charset="0"/>
                <a:cs typeface="Times New Roman" panose="02020603050405020304" pitchFamily="18" charset="0"/>
              </a:rPr>
              <a:t>,  </a:t>
            </a:r>
            <a:r>
              <a:rPr lang="en-US" sz="2600" b="1" dirty="0">
                <a:solidFill>
                  <a:schemeClr val="tx1"/>
                </a:solidFill>
                <a:latin typeface="Times New Roman" panose="02020603050405020304" pitchFamily="18" charset="0"/>
                <a:cs typeface="Times New Roman" panose="02020603050405020304" pitchFamily="18" charset="0"/>
              </a:rPr>
              <a:t>Random Forest Regressor, Ridge, and Lasso</a:t>
            </a:r>
            <a:r>
              <a:rPr lang="en-US" sz="2600" dirty="0">
                <a:solidFill>
                  <a:schemeClr val="tx1"/>
                </a:solidFill>
                <a:latin typeface="Times New Roman" panose="02020603050405020304" pitchFamily="18" charset="0"/>
                <a:cs typeface="Times New Roman" panose="02020603050405020304" pitchFamily="18" charset="0"/>
              </a:rPr>
              <a:t>. Each algorithm has its unique strengths and is suited to different types of relationships in the data.</a:t>
            </a:r>
          </a:p>
          <a:p>
            <a:pPr marL="285750" indent="-285750" algn="l">
              <a:buFont typeface="Arial" panose="020B0604020202020204" pitchFamily="34" charset="0"/>
              <a:buChar char="•"/>
            </a:pPr>
            <a:endParaRPr lang="en-US" sz="1600" dirty="0">
              <a:solidFill>
                <a:schemeClr val="tx1"/>
              </a:solidFill>
            </a:endParaRPr>
          </a:p>
          <a:p>
            <a:pPr marL="285750" indent="-285750" algn="l">
              <a:buFont typeface="Arial" panose="020B0604020202020204" pitchFamily="34" charset="0"/>
              <a:buChar char="•"/>
            </a:pPr>
            <a:endParaRPr lang="en-US" sz="1600" dirty="0">
              <a:solidFill>
                <a:schemeClr val="tx1"/>
              </a:solidFill>
            </a:endParaRPr>
          </a:p>
          <a:p>
            <a:pPr marL="285750" indent="-285750" algn="l">
              <a:buFont typeface="Arial" panose="020B0604020202020204" pitchFamily="34" charset="0"/>
              <a:buChar char="•"/>
            </a:pPr>
            <a:endParaRPr lang="en-US" sz="1600" dirty="0">
              <a:solidFill>
                <a:schemeClr val="tx1"/>
              </a:solidFill>
            </a:endParaRPr>
          </a:p>
          <a:p>
            <a:pPr algn="l"/>
            <a:r>
              <a:rPr lang="en-US" sz="2600" dirty="0">
                <a:solidFill>
                  <a:schemeClr val="tx1"/>
                </a:solidFill>
              </a:rPr>
              <a:t>To ensure that our models are reliable and can generalize well to unseen data, we split the dataset into training and test sets. The training set is used to fit the models, while the test set is reserved for evaluating their performance. This process helps in selecting the best model and tuning hyperparameters, ultimately leading to more robust predictions</a:t>
            </a:r>
            <a:r>
              <a:rPr lang="en-US" dirty="0">
                <a:solidFill>
                  <a:schemeClr val="tx1"/>
                </a:solidFill>
              </a:rPr>
              <a:t>.</a:t>
            </a:r>
            <a:endParaRPr lang="en-US"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03652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2C87-243F-76A7-8165-A6F2E49D802F}"/>
              </a:ext>
            </a:extLst>
          </p:cNvPr>
          <p:cNvSpPr>
            <a:spLocks noGrp="1"/>
          </p:cNvSpPr>
          <p:nvPr>
            <p:ph type="title"/>
          </p:nvPr>
        </p:nvSpPr>
        <p:spPr>
          <a:xfrm>
            <a:off x="913795" y="364068"/>
            <a:ext cx="10431538" cy="702733"/>
          </a:xfrm>
        </p:spPr>
        <p:txBody>
          <a:bodyPr>
            <a:normAutofit/>
          </a:bodyPr>
          <a:lstStyle/>
          <a:p>
            <a:r>
              <a:rPr lang="en-US" sz="3600" dirty="0">
                <a:latin typeface="Times New Roman" panose="02020603050405020304" pitchFamily="18" charset="0"/>
                <a:cs typeface="Times New Roman" panose="02020603050405020304" pitchFamily="18" charset="0"/>
              </a:rPr>
              <a:t>CONCLUSION</a:t>
            </a:r>
            <a:endParaRPr lang="en-IN" sz="3600" dirty="0">
              <a:latin typeface="Times New Roman" panose="02020603050405020304" pitchFamily="18" charset="0"/>
              <a:cs typeface="Times New Roman" panose="02020603050405020304" pitchFamily="18" charset="0"/>
            </a:endParaRPr>
          </a:p>
        </p:txBody>
      </p:sp>
      <p:sp>
        <p:nvSpPr>
          <p:cNvPr id="4" name="Text Placeholder 3">
            <a:extLst>
              <a:ext uri="{FF2B5EF4-FFF2-40B4-BE49-F238E27FC236}">
                <a16:creationId xmlns:a16="http://schemas.microsoft.com/office/drawing/2014/main" id="{C74BECA5-09A2-B513-6463-92235FDEE176}"/>
              </a:ext>
            </a:extLst>
          </p:cNvPr>
          <p:cNvSpPr>
            <a:spLocks noGrp="1"/>
          </p:cNvSpPr>
          <p:nvPr>
            <p:ph type="body" sz="half" idx="2"/>
          </p:nvPr>
        </p:nvSpPr>
        <p:spPr>
          <a:xfrm>
            <a:off x="913794" y="1520581"/>
            <a:ext cx="10431537" cy="917819"/>
          </a:xfrm>
        </p:spPr>
        <p:txBody>
          <a:bodyPr>
            <a:noAutofit/>
          </a:bodyPr>
          <a:lstStyle/>
          <a:p>
            <a:pPr algn="l"/>
            <a:r>
              <a:rPr lang="en-US" sz="2400" dirty="0">
                <a:latin typeface="Times New Roman" panose="02020603050405020304" pitchFamily="18" charset="0"/>
                <a:cs typeface="Times New Roman" panose="02020603050405020304" pitchFamily="18" charset="0"/>
              </a:rPr>
              <a:t>The </a:t>
            </a:r>
            <a:r>
              <a:rPr lang="en-US" sz="2400" b="1" dirty="0">
                <a:latin typeface="Times New Roman" panose="02020603050405020304" pitchFamily="18" charset="0"/>
                <a:cs typeface="Times New Roman" panose="02020603050405020304" pitchFamily="18" charset="0"/>
              </a:rPr>
              <a:t>Random Forest Regressor</a:t>
            </a:r>
            <a:r>
              <a:rPr lang="en-US" sz="2400" dirty="0">
                <a:latin typeface="Times New Roman" panose="02020603050405020304" pitchFamily="18" charset="0"/>
                <a:cs typeface="Times New Roman" panose="02020603050405020304" pitchFamily="18" charset="0"/>
              </a:rPr>
              <a:t> emerged as the best model for predicting used car prices. Its ensemble approach, which combines the predictions of multiple decision trees, allowed it to capture complex relationships in the data, resulting in the most accurate and reliable predictions among the models tested as it has 0.41 R2 score.</a:t>
            </a:r>
            <a:endParaRPr lang="en-IN" sz="2400" dirty="0">
              <a:latin typeface="Times New Roman" panose="02020603050405020304" pitchFamily="18" charset="0"/>
              <a:cs typeface="Times New Roman" panose="02020603050405020304" pitchFamily="18" charset="0"/>
            </a:endParaRPr>
          </a:p>
        </p:txBody>
      </p:sp>
      <p:pic>
        <p:nvPicPr>
          <p:cNvPr id="8" name="Content Placeholder 7">
            <a:extLst>
              <a:ext uri="{FF2B5EF4-FFF2-40B4-BE49-F238E27FC236}">
                <a16:creationId xmlns:a16="http://schemas.microsoft.com/office/drawing/2014/main" id="{793D1F20-6F2C-124F-07D8-7EC48C95684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75638" y="3324571"/>
            <a:ext cx="7995684" cy="2948637"/>
          </a:xfrm>
        </p:spPr>
      </p:pic>
    </p:spTree>
    <p:extLst>
      <p:ext uri="{BB962C8B-B14F-4D97-AF65-F5344CB8AC3E}">
        <p14:creationId xmlns:p14="http://schemas.microsoft.com/office/powerpoint/2010/main" val="40840662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B1218C-BDAF-5874-AB84-9E19876BE726}"/>
              </a:ext>
            </a:extLst>
          </p:cNvPr>
          <p:cNvSpPr>
            <a:spLocks noGrp="1"/>
          </p:cNvSpPr>
          <p:nvPr>
            <p:ph type="title"/>
          </p:nvPr>
        </p:nvSpPr>
        <p:spPr>
          <a:xfrm>
            <a:off x="919119" y="2943775"/>
            <a:ext cx="10353762" cy="970450"/>
          </a:xfrm>
        </p:spPr>
        <p:txBody>
          <a:bodyPr/>
          <a:lstStyle/>
          <a:p>
            <a:r>
              <a:rPr lang="en-US" b="1" dirty="0">
                <a:latin typeface="Times New Roman" panose="02020603050405020304" pitchFamily="18" charset="0"/>
                <a:cs typeface="Times New Roman" panose="02020603050405020304" pitchFamily="18" charset="0"/>
              </a:rPr>
              <a:t>THANK YOU</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0918085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Circuit</Template>
  <TotalTime>187</TotalTime>
  <Words>497</Words>
  <Application>Microsoft Office PowerPoint</Application>
  <PresentationFormat>Widescreen</PresentationFormat>
  <Paragraphs>28</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Times New Roman</vt:lpstr>
      <vt:lpstr>Tw Cen MT</vt:lpstr>
      <vt:lpstr>Circuit</vt:lpstr>
      <vt:lpstr>JaPAN USEd cars price prediction</vt:lpstr>
      <vt:lpstr>CONTENT:  1. INTRODUCTION  2. DATASET OVERVIEW  3. EXPLORATORY DATA ANALYSIS (EDA)  4. FEATURE ENGINEERING  5. MODEL APPROACH  6. MODEL EVALUATION  7. CONCLUSION     </vt:lpstr>
      <vt:lpstr>INTRODUCTION</vt:lpstr>
      <vt:lpstr>DATASET</vt:lpstr>
      <vt:lpstr>EXPLORATORY DATA ANALYSIS</vt:lpstr>
      <vt:lpstr>PowerPoint Presentation</vt:lpstr>
      <vt:lpstr>FEATURE ENGINEERING</vt:lpstr>
      <vt:lpstr>MODEL APPROACH</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Jiya Khushal Nimje</dc:creator>
  <cp:lastModifiedBy>Eklavya Yaadav</cp:lastModifiedBy>
  <cp:revision>12</cp:revision>
  <dcterms:created xsi:type="dcterms:W3CDTF">2024-08-23T13:56:42Z</dcterms:created>
  <dcterms:modified xsi:type="dcterms:W3CDTF">2024-09-03T11:45:12Z</dcterms:modified>
</cp:coreProperties>
</file>